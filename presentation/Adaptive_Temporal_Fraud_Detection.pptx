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 - OPENING]</a:t>
            </a:r>
          </a:p>
          <a:p>
            <a:r>
              <a:t>Welcome everyone. Today my co-presenter and I are presenting our research project: 'Adaptive Temporal Graph Intelligence for Fraud Detection.'</a:t>
            </a:r>
          </a:p>
          <a:p/>
          <a:p>
            <a:r>
              <a:t>Our investigation asks a fundamental question in financial machine learning: Does modeling complex relational graphs and temporal behavioral memory actually improve fraud detection over highly tuned tabular baselines like XGBoost, especially when tested under strict real-world temporal causality and concept drift?</a:t>
            </a:r>
          </a:p>
          <a:p/>
          <a:p>
            <a:r>
              <a:t>To deliver a thorough technical presentation, we have divided the talk into two natural, balanced sections:</a:t>
            </a:r>
          </a:p>
          <a:p>
            <a:r>
              <a:t>- I will deliver Part I, covering the problem formulation, our causal leakage safeguards, the system architecture, our graph schema, and temporal memory modeling.</a:t>
            </a:r>
          </a:p>
          <a:p>
            <a:r>
              <a:t>- My co-presenter will deliver Part II, covering our experimental evaluation protocol, empirical benchmark results, drift adaptation findings, explainability modules, and scientific conclusions.</a:t>
            </a:r>
          </a:p>
          <a:p/>
          <a:p>
            <a:r>
              <a:t>Let us begin with the core challenge of financial transaction fraud.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 - PROBLEM]</a:t>
            </a:r>
          </a:p>
          <a:p>
            <a:r>
              <a:t>To understand our project, we must examine why transaction fraud detection is fundamentally difficult.</a:t>
            </a:r>
          </a:p>
          <a:p/>
          <a:p>
            <a:r>
              <a:t>Traditional fraud prevention often treats transactions as isolated rows in a database. But in real financial operations, fraud analysts face three interconnected dilemmas:</a:t>
            </a:r>
          </a:p>
          <a:p>
            <a:r>
              <a:t>1. Deceptive Camouflage: Fraudulent transactions look innocent when viewed alone—an adversary uses stolen credentials to buy everyday items at common merchants.</a:t>
            </a:r>
          </a:p>
          <a:p>
            <a:r>
              <a:t>2. Temporal Non-Stationarity: Financial fraud is an adversarial game. As soon as a defensive rule is deployed, fraudsters pivot, causing severe model decay over time.</a:t>
            </a:r>
          </a:p>
          <a:p>
            <a:r>
              <a:t>3. Distributed Coordination: Fraud rings systematically distribute attacks across multiple credit cards, synthetic accounts, mobile devices, and proxy IPs to stay under single-account velocity limits.</a:t>
            </a:r>
          </a:p>
          <a:p/>
          <a:p>
            <a:r>
              <a:t>We evaluate these challenges on the standard IEEE-CIS benchmark: 590,540 real-world transactions over 182 days with severe class imbalance—only 3.499% fraud, or roughly 28 legitimate purchases for every illicit one.</a:t>
            </a:r>
          </a:p>
          <a:p/>
          <a:p>
            <a:r>
              <a:t>This brings us to our central research inquiry: Can graph structure and temporal memory provide genuine lift, or are practitioners better served by tuned tabular gradient-boosted trees?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 - METHODOLOGY &amp; CAUSALITY]</a:t>
            </a:r>
          </a:p>
          <a:p>
            <a:r>
              <a:t>Before discussing architectures, we must confront a critical methodological pitfall that plagues financial graph literature.</a:t>
            </a:r>
          </a:p>
          <a:p/>
          <a:p>
            <a:r>
              <a:t>Many published papers report astonishing GNN accuracy on the IEEE-CIS benchmark. But during our Phase 1 reconnaissance, we uncovered the underlying reason: a massive labelling artifact. A single feature—whether the same pseudo-account experienced fraud earlier—separates fraud at 59.86% versus 0.08%. In an unconstrained graph neural network, message-passing across transactions easily propagates chargeback labels backwards in time, effectively allowing the model to cheat.</a:t>
            </a:r>
          </a:p>
          <a:p/>
          <a:p>
            <a:r>
              <a:t>To guarantee scientific honesty, we instituted three non-negotiable causal safeguards:</a:t>
            </a:r>
          </a:p>
          <a:p>
            <a:r>
              <a:t>1. Strict Chronological Splitting: We evaluate only forward in time. Train covers Days 1–121, Validation covers Days 122–151, and Held-out Days 152–182 remain sealed. All feature encoders and scalers are fitted on Train only.</a:t>
            </a:r>
          </a:p>
          <a:p>
            <a:r>
              <a:t>2. Causal Feature Masking: All tabular and graph features operate under a strict invariant: a transaction at time t can only inspect events strictly earlier than t.</a:t>
            </a:r>
          </a:p>
          <a:p>
            <a:r>
              <a:t>3. Interventional Invariance Tests: In our test suite, we programmatically corrupt future transaction timestamps and verify that past predictions remain bit-for-bit identical.</a:t>
            </a:r>
          </a:p>
          <a:p/>
          <a:p>
            <a:r>
              <a:t>With these safeguards established, let us examine our system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 - ARCHITECTURE]</a:t>
            </a:r>
          </a:p>
          <a:p>
            <a:r>
              <a:t>Here is the end-to-end architecture of the software and research pipeline we implemented. It is organized into four distinct stages:</a:t>
            </a:r>
          </a:p>
          <a:p/>
          <a:p>
            <a:r>
              <a:t>Stage 1: Ingestion and Causal Preprocessing.</a:t>
            </a:r>
          </a:p>
          <a:p>
            <a:r>
              <a:t>Raw IEEE-CIS transaction streams are loaded, chronologically partitioned, and validated. Encoders and scalers are fitted strictly on the 121-day training set, while the held-out test period remains cryptographically locked.</a:t>
            </a:r>
          </a:p>
          <a:p/>
          <a:p>
            <a:r>
              <a:t>Stage 2: The Dual Representation Engine.</a:t>
            </a:r>
          </a:p>
          <a:p>
            <a:r>
              <a:t>Transactions fork into two parallel representations:</a:t>
            </a:r>
          </a:p>
          <a:p>
            <a:r>
              <a:t>- A tabular feature space containing 470 preprocessed numerical and categorical features, plus 40 backward-looking graph features.</a:t>
            </a:r>
          </a:p>
          <a:p>
            <a:r>
              <a:t>- A heterogeneous dynamic graph containing 5 node types and 4 timed relations.</a:t>
            </a:r>
          </a:p>
          <a:p/>
          <a:p>
            <a:r>
              <a:t>Stage 3: The Model Evaluation Suite.</a:t>
            </a:r>
          </a:p>
          <a:p>
            <a:r>
              <a:t>We train and evaluate:</a:t>
            </a:r>
          </a:p>
          <a:p>
            <a:r>
              <a:t>- Standard tabular baselines (Logistic Regression, Random Forest, and tuned XGBoost).</a:t>
            </a:r>
          </a:p>
          <a:p>
            <a:r>
              <a:t>- Comparison B: XGBoost augmented with our 40 handcrafted graph features.</a:t>
            </a:r>
          </a:p>
          <a:p>
            <a:r>
              <a:t>- Static GNNs: Heterogeneous GraphSAGE and Graph Attention Networks with causal snapshot masking.</a:t>
            </a:r>
          </a:p>
          <a:p>
            <a:r>
              <a:t>- Temporal GraphSAGE with continuous recurrent entity memory.</a:t>
            </a:r>
          </a:p>
          <a:p/>
          <a:p>
            <a:r>
              <a:t>Stage 4: Intelligence and Drift Control.</a:t>
            </a:r>
          </a:p>
          <a:p>
            <a:r>
              <a:t>Predictions feed into downstream intelligence modules: continual walk-forward adaptation to counteract drift, candidate-community discovery via Louvain clustering, exact TreeSHAP feature explanations, and a zero-dependency local serving API.</a:t>
            </a:r>
          </a:p>
          <a:p/>
          <a:p>
            <a:r>
              <a:t>Next, let us look closely at how the heterogeneous graph was constructed.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 - GRAPH SCHEMA]</a:t>
            </a:r>
          </a:p>
          <a:p>
            <a:r>
              <a:t>A central principle of our design is that the graph schema must emerge directly from verified data properties, rather than arbitrary assumptions.</a:t>
            </a:r>
          </a:p>
          <a:p/>
          <a:p>
            <a:r>
              <a:t>As shown in this schema diagram:</a:t>
            </a:r>
          </a:p>
          <a:p>
            <a:r>
              <a:t>At the center is the Transaction Node, representing 590,540 events carrying 470 features and exact seconds timestamps.</a:t>
            </a:r>
          </a:p>
          <a:p/>
          <a:p>
            <a:r>
              <a:t>Connected to transactions are four distinct entity types:</a:t>
            </a:r>
          </a:p>
          <a:p>
            <a:r>
              <a:t>1. Pseudo-Accounts (199,625 nodes): Because real customer IDs are anonymized in IEEE-CIS, we rigorously derived a stable pseudo-account identifier using card attributes, billing region, and the D1 timedelta offset: card1 + addr1 + (day - D1). The 'charged_to' edge covers 88.9% of transactions.</a:t>
            </a:r>
          </a:p>
          <a:p>
            <a:r>
              <a:t>2. Payment Cards (13,553 nodes): Defined by card numbers and issuers (card1 through card6), connected via the 'used_card' relation with 100% coverage.</a:t>
            </a:r>
          </a:p>
          <a:p>
            <a:r>
              <a:t>3. Network Proxies (2,394 nodes): Infrastructure nodes derived from purchaser email domains and network proxy clusters, with 23.6% coverage via 'via_network'.</a:t>
            </a:r>
          </a:p>
          <a:p>
            <a:r>
              <a:t>4. Device Fingerprints (4,880 nodes): Hardware and operating system combinations (id_30 through id_33) with 12.0% coverage via 'from_device'.</a:t>
            </a:r>
          </a:p>
          <a:p/>
          <a:p>
            <a:r>
              <a:t>Crucially, in Phase 4 we measured and explicitly excluded candidates like raw billing address, email domain, and raw device model strings. These created massive artificial hubs with millions of connections but zero predictive signal above chance.</a:t>
            </a:r>
          </a:p>
          <a:p/>
          <a:p>
            <a:r>
              <a:t>Let us now contrast handcrafted feature engineering against deep graph neural representations.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 - FEATURE VS GNN]</a:t>
            </a:r>
          </a:p>
          <a:p>
            <a:r>
              <a:t>When applying graph intelligence to tabular transactions, machine learning engineers face a fundamental fork in the road:</a:t>
            </a:r>
          </a:p>
          <a:p>
            <a:r>
              <a:t>Do we extract explicit relational features and feed them to tree-based models, or do we train end-to-end Graph Neural Networks?</a:t>
            </a:r>
          </a:p>
          <a:p/>
          <a:p>
            <a:r>
              <a:t>We implemented and compared both paradigms under strict pre-registered protocols.</a:t>
            </a:r>
          </a:p>
          <a:p/>
          <a:p>
            <a:r>
              <a:t>On the left is Comparison B: Handcrafted Graph Features.</a:t>
            </a:r>
          </a:p>
          <a:p>
            <a:r>
              <a:t>We engineered 40 label-free, backward-looking features capturing entity velocity, recency, amount volatility, and cross-entity diversity. For example, how many transactions did this pseudo-account perform in the last 24 hours versus the last 7 days? How many different credit cards or devices has it touched? These were computed strictly using past events and pre-registered before execution.</a:t>
            </a:r>
          </a:p>
          <a:p/>
          <a:p>
            <a:r>
              <a:t>On the right are Deep Graph Neural Networks:</a:t>
            </a:r>
          </a:p>
          <a:p>
            <a:r>
              <a:t>- Cell C: Heterogeneous GraphSAGE, utilizing two relational neighborhood aggregation layers to learn dense node representations.</a:t>
            </a:r>
          </a:p>
          <a:p>
            <a:r>
              <a:t>- Cell D: A Graph Attention Network (GAT) with 4 attention heads to dynamically weight neighbor relevance.</a:t>
            </a:r>
          </a:p>
          <a:p>
            <a:r>
              <a:t>- To rigorously isolate the value of graph structure, we included a No-Relations MLP Control that shares the same network capacity and tabular inputs but has all graph edges severed.</a:t>
            </a:r>
          </a:p>
          <a:p/>
          <a:p>
            <a:r>
              <a:t>Now, let us examine how we model temporal entity memory across time.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 - TEMPORAL MEMORY]</a:t>
            </a:r>
          </a:p>
          <a:p>
            <a:r>
              <a:t>In a streaming financial system, static graph snapshots miss the evolution of user behavior. A card that lay dormant for six months and suddenly fires 10 high-value transactions in an hour represents a critical behavioral signature.</a:t>
            </a:r>
          </a:p>
          <a:p/>
          <a:p>
            <a:r>
              <a:t>To capture this, we implemented Temporal GraphSAGE with continuous recurrent entity memory.</a:t>
            </a:r>
          </a:p>
          <a:p>
            <a:r>
              <a:t>As illustrated in the diagram:</a:t>
            </a:r>
          </a:p>
          <a:p>
            <a:r>
              <a:t>- The system operates day-by-day.</a:t>
            </a:r>
          </a:p>
          <a:p>
            <a:r>
              <a:t>- Each entity maintains a 64-dimensional latent state updated by a Gated Recurrent Unit (GRU).</a:t>
            </a:r>
          </a:p>
          <a:p>
            <a:r>
              <a:t>- When transactions occur on day t, entity states are updated using the day's message snapshot and an explicit elapsed-time encoding (Delta t) representing the time since previous activity.</a:t>
            </a:r>
          </a:p>
          <a:p>
            <a:r>
              <a:t>- The updated entity state then carries forward smoothly into the next day without reset.</a:t>
            </a:r>
          </a:p>
          <a:p/>
          <a:p>
            <a:r>
              <a:t>Crucially, in Phase 7A we designed two controls to eliminate confounding factors:</a:t>
            </a:r>
          </a:p>
          <a:p>
            <a:r>
              <a:t>First, a Schedule-Matched Static GNN: In standard training, temporal models take ~17 optimizer steps per epoch versus 1 for static GNNs. The schedule-matched control equalizes gradient steps so we don't mistake optimization volume for architectural superiority.</a:t>
            </a:r>
          </a:p>
          <a:p>
            <a:r>
              <a:t>Second, a Memory-Ablated Temporal GNN: We replace the non-linear recurrent GRU cell with an unweighted cumulative mean, isolating whether recurrent memory dynamics specifically matter.</a:t>
            </a:r>
          </a:p>
          <a:p/>
          <a:p>
            <a:r>
              <a:t>Let us now review the 5 pre-registered hypotheses before I hand over to Presenter B.</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 - HANDOFF TO PRESENTER B]</a:t>
            </a:r>
          </a:p>
          <a:p>
            <a:r>
              <a:t>To hold ourselves to high scientific standards, we pre-registered five formal hypotheses—H1 through H5—with strict falsification rules before training and evaluating our models:</a:t>
            </a:r>
          </a:p>
          <a:p>
            <a:r>
              <a:t>- H1: That graph structure adds lift over tabular features.</a:t>
            </a:r>
          </a:p>
          <a:p>
            <a:r>
              <a:t>- H2: That deep learned graph representations beat handcrafted graph features.</a:t>
            </a:r>
          </a:p>
          <a:p>
            <a:r>
              <a:t>- H3: That temporal entity memory improves future generalization over static models.</a:t>
            </a:r>
          </a:p>
          <a:p>
            <a:r>
              <a:t>- H4: That adaptive updating reduces degradation under concept drift.</a:t>
            </a:r>
          </a:p>
          <a:p>
            <a:r>
              <a:t>- H5: That graph clustering uncovers coordinated fraud rings missed by individual transaction scoring.</a:t>
            </a:r>
          </a:p>
          <a:p/>
          <a:p>
            <a:r>
              <a:t>This concludes Part I on our problem formulation, causal hygiene, and system architecture.</a:t>
            </a:r>
          </a:p>
          <a:p/>
          <a:p>
            <a:r>
              <a:t>I will now hand over to my co-presenter, Presenter B, who will walk you through our experimental validation, empirical findings, surprising baseline comparisons, and scientific conclusions. Presenter B, the floor is yours.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 - EVALUATION PROTOCOL]</a:t>
            </a:r>
          </a:p>
          <a:p>
            <a:r>
              <a:t>Thank you, Presenter A. I will now present our empirical evaluation, quantitative results, and scientific findings.</a:t>
            </a:r>
          </a:p>
          <a:p/>
          <a:p>
            <a:r>
              <a:t>When evaluating machine learning on imbalanced fraud datasets, how you evaluate determines whether your conclusions are scientifically valid. We built our evaluation around three core principles:</a:t>
            </a:r>
          </a:p>
          <a:p/>
          <a:p>
            <a:r>
              <a:t>1. Metric Selection: In an environment with 27.6 benign transactions for every single fraud event, accuracy is meaningless—a trivial baseline predicting all negatives gets 96.5% accuracy. Even ROC-AUC is misleadingly optimistic because a massive denominator of true negatives conceals an unmanageable flood of false alarms. We designate Precision-Recall AUC (PR-AUC) as our primary benchmark because it directly evaluates precision as a function of alert recall.</a:t>
            </a:r>
          </a:p>
          <a:p/>
          <a:p>
            <a:r>
              <a:t>2. Strict 3-Way Entity Segmentation: Aggregating all transactions into a single metric hides where graph models actually provide value. We evaluate every model across three non-overlapping subsets: Warm transactions with established history, Cold-start transactions where an entity is seen for the first time, and No-Edge transactions. We discovered that conflating cold-start with no-edge transactions artificially inflates reported GNN performance—a practice we strictly barred.</a:t>
            </a:r>
          </a:p>
          <a:p/>
          <a:p>
            <a:r>
              <a:t>3. Complete Metric Integrity and Sealed Test Period: To ensure absolute reproducibility, we built a consolidated verification table in Phase 12. A single metric engine recomputed all 8,184 recorded metric values with a maximum absolute discrepancy of exactly 0.0. Furthermore, Days 152–182 remain sealed under cryptographic hash guards. Every number presented today is a true validation-period finding.</a:t>
            </a:r>
          </a:p>
          <a:p/>
          <a:p>
            <a:r>
              <a:t>Let us now examine the quantitative comparison between tabular and graph models.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 - RESULTS TABULAR VS GRAPH]</a:t>
            </a:r>
          </a:p>
          <a:p>
            <a:r>
              <a:t>Here are our primary empirical findings on the validation period. This analytical chart presents the core quantitative comparison across all models.</a:t>
            </a:r>
          </a:p>
          <a:p/>
          <a:p>
            <a:r>
              <a:t>The primary takeaway is striking: Tuned tabular XGBoost is extraordinarily difficult to beat.</a:t>
            </a:r>
          </a:p>
          <a:p>
            <a:r>
              <a:t>- Standard XGBoost on transaction features achieves a PR-AUC of 0.5395 with class weighting, and 0.5948 without class weighting.</a:t>
            </a:r>
          </a:p>
          <a:p>
            <a:r>
              <a:t>- Static GraphSAGE scores 0.4637. While it beats its no-relations MLP control (0.4167), it remains far below the tabular model.</a:t>
            </a:r>
          </a:p>
          <a:p>
            <a:r>
              <a:t>- Temporal GraphSAGE achieves 0.4927 across three seeds. This is the strongest graph model in our study, yet it still trails baseline XGBoost by nearly 0.047 PR-AUC.</a:t>
            </a:r>
          </a:p>
          <a:p>
            <a:r>
              <a:t>- The Graph Attention Network (GAT) never converged within the 150-epoch limit, achieving only 0.3320. We report this openly as a negative result rather than quietly discarding it.</a:t>
            </a:r>
          </a:p>
          <a:p/>
          <a:p>
            <a:r>
              <a:t>Now let us examine Comparison B—adding 40 handcrafted backward-looking graph features to XGBoost:</a:t>
            </a:r>
          </a:p>
          <a:p>
            <a:r>
              <a:t>- In the primary single-run comparison, it shows a modest gain of +0.0046 (0.5440 vs 0.5395).</a:t>
            </a:r>
          </a:p>
          <a:p>
            <a:r>
              <a:t>- However, when evaluated over three subsampled seeds, the mean difference is -0.0005 against a seed standard deviation of 0.0034.</a:t>
            </a:r>
          </a:p>
          <a:p>
            <a:r>
              <a:t>- Under our pre-registered decision rule, H1-direct is NOT ESTABLISHED.</a:t>
            </a:r>
          </a:p>
          <a:p>
            <a:r>
              <a:t>- Furthermore, H2 is CONTRADICTED: learned neural graph embeddings do not outperform handcrafted features; both neural models fall far below the handcrafted tabular model.</a:t>
            </a:r>
          </a:p>
          <a:p/>
          <a:p>
            <a:r>
              <a:t>Where, then, does relational and temporal information actually help? Let us examine the ablation studies.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 - TEMPORAL MEMORY &amp; ABLATIONS]</a:t>
            </a:r>
          </a:p>
          <a:p>
            <a:r>
              <a:t>While neural graph models did not surpass tabular baselines overall, our ablation experiments isolate exactly where relational structure and memory provide genuine lift.</a:t>
            </a:r>
          </a:p>
          <a:p/>
          <a:p>
            <a:r>
              <a:t>First, evaluating Hypothesis H3 (Temporal Memory):</a:t>
            </a:r>
          </a:p>
          <a:p>
            <a:r>
              <a:t>When compared against our memory-ablated control—which uses an identical architecture with a cumulative mean—Temporal GraphSAGE wins in 3 of 3 seeds with a mean pooled gain of +0.0137 PR-AUC.</a:t>
            </a:r>
          </a:p>
          <a:p>
            <a:r>
              <a:t>When we inspect our 3-way segmentation, the origin of this gain becomes clear: on cold-start transactions, temporal memory provides a substantial +0.027 PR-AUC lift (0.3562 vs 0.3288). When a previously unseen card arrives on a known account, the accumulated GRU state provides critical predictive context. Therefore, H3 is partially supported with a modest, targeted effect.</a:t>
            </a:r>
          </a:p>
          <a:p/>
          <a:p>
            <a:r>
              <a:t>Second, our pre-registered relation-level ablation study on Temporal GraphSAGE:</a:t>
            </a:r>
          </a:p>
          <a:p>
            <a:r>
              <a:t>We systematically retrained the temporal model across three seeds with individual relations excised:</a:t>
            </a:r>
          </a:p>
          <a:p>
            <a:r>
              <a:t>- Excising the 'charged_to' pseudo-account relation causes a severe drop of -0.0309 PR-AUC across all seeds (falling from 0.4927 to 0.4618), with warm-segment performance plummeting.</a:t>
            </a:r>
          </a:p>
          <a:p>
            <a:r>
              <a:t>- Excising the 'from_device' relation causes a modest drop of -0.0073 PR-AUC.</a:t>
            </a:r>
          </a:p>
          <a:p>
            <a:r>
              <a:t>- In contrast, excising payment card edges (-0.0038) or network proxy edges (-0.0053) produces differences entirely within our measured run-to-run retraining noise floor of 0.0058.</a:t>
            </a:r>
          </a:p>
          <a:p/>
          <a:p>
            <a:r>
              <a:t>This demonstrates that almost all relational value in the graph model is concentrated in the derived pseudo-account identity key.</a:t>
            </a:r>
          </a:p>
          <a:p/>
          <a:p>
            <a:r>
              <a:t>Now let us turn to another central finding: concept drift and continual adaptation.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 - DRIFT &amp; ADAPTATION]</a:t>
            </a:r>
          </a:p>
          <a:p>
            <a:r>
              <a:t>One of the most consequential contributions of our research is Phase 8: our controlled study of concept drift and walk-forward adaptation over the 30-day validation period.</a:t>
            </a:r>
          </a:p>
          <a:p/>
          <a:p>
            <a:r>
              <a:t>We divided the validation period into five consecutive 6-day windows and tracked three arms initialized from the same day-111 checkpoint:</a:t>
            </a:r>
          </a:p>
          <a:p>
            <a:r>
              <a:t>1. Frozen baseline: Parameters locked at day 111.</a:t>
            </a:r>
          </a:p>
          <a:p>
            <a:r>
              <a:t>2. Continual Adaptive Fine-Tuning: Model warm-start fine-tuned after each window using freshly revealed validation labels.</a:t>
            </a:r>
          </a:p>
          <a:p>
            <a:r>
              <a:t>3. Replay Control: Spends the identical compute budget fine-tuning exclusively on resampled historical training days.</a:t>
            </a:r>
          </a:p>
          <a:p/>
          <a:p>
            <a:r>
              <a:t>Look at the trajectory in Figure 2:</a:t>
            </a:r>
          </a:p>
          <a:p>
            <a:r>
              <a:t>The frozen model suffers severe degradation—its PR-AUC plummets from 0.5868 in Window 1 down to 0.3350 in Window 5, a decay of more than 0.25 points in 30 days!</a:t>
            </a:r>
          </a:p>
          <a:p>
            <a:r>
              <a:t>Crucially, when we measured covariate shift across all 470 input features, the mean Population Stability Index (PSI) was only 0.01. Raw input distributions barely shifted, yet predictive performance degraded precipitously.</a:t>
            </a:r>
          </a:p>
          <a:p/>
          <a:p>
            <a:r>
              <a:t>Our Continual Adaptive arm maintains substantially higher performance, finishing at 0.3798 with a window-mean PR-AUC of 0.4580 versus 0.4243 for the frozen model.</a:t>
            </a:r>
          </a:p>
          <a:p>
            <a:r>
              <a:t>Importantly, our Replay Control scored 0.4179—below the frozen baseline! This proves that the adaptive gain does not stem from extra training steps or compute volume, but strictly from adapting to recent adversarial label distributions.</a:t>
            </a:r>
          </a:p>
          <a:p>
            <a:r>
              <a:t>Under our pre-registered decision rules, Hypothesis H4 is fully SUPPORTED.</a:t>
            </a:r>
          </a:p>
          <a:p/>
          <a:p>
            <a:r>
              <a:t>However, we also report a notable negative finding: a pre-registered drift-triggered refresh based on the PSI of the prediction score distribution never fired (PSI stayed below 0.025). Output distribution shift failed to signal label-conditional degradation.</a:t>
            </a:r>
          </a:p>
          <a:p/>
          <a:p>
            <a:r>
              <a:t>Next, let us examine candidate-community discovery and explainability.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 - COMMUNITIES &amp; EXPLAINABILITY]</a:t>
            </a:r>
          </a:p>
          <a:p>
            <a:r>
              <a:t>In Phase 9 and Phase 11, we investigated coordinated multi-entity fraud discovery and transparent model explainability.</a:t>
            </a:r>
          </a:p>
          <a:p/>
          <a:p>
            <a:r>
              <a:t>First, Candidate Communities:</a:t>
            </a:r>
          </a:p>
          <a:p>
            <a:r>
              <a:t>To uncover coordinated groups, we applied Louvain modularity clustering on bipartite card-infrastructure graphs over 7-day windows.</a:t>
            </a:r>
          </a:p>
          <a:p>
            <a:r>
              <a:t>Here we demonstrate another example of scientific transparency:</a:t>
            </a:r>
          </a:p>
          <a:p>
            <a:r>
              <a:t>In our original Phase 9 benchmark, the synthetic test failed a frozen validity gate (Gate G4) because real transaction ranks shifted. Rather than quietly modifying the gate post-hoc, we adhered to our pre-registration: Hypothesis H5 was marked NOT ESTABLISHED.</a:t>
            </a:r>
          </a:p>
          <a:p>
            <a:r>
              <a:t>Subsequently, we pre-registered Phase 9b with an amended interference formula. Phase 9b passed all gates and verified that structure-plus-time recovers camouflaged planted groups with AUPRC 0.14 to 0.27, outperforming baselines (&lt; 0.05).</a:t>
            </a:r>
          </a:p>
          <a:p>
            <a:r>
              <a:t>However, on real IEEE-CIS data, we strictly designate clusters as 'candidate coordinated communities'—never 'fraud rings'—because IEEE-CIS contains zero verified fraud ring ground truth.</a:t>
            </a:r>
          </a:p>
          <a:p/>
          <a:p>
            <a:r>
              <a:t>Second, Explainability:</a:t>
            </a:r>
          </a:p>
          <a:p>
            <a:r>
              <a:t>Black-box risk scores are unacceptable in financial forensics. We implemented:</a:t>
            </a:r>
          </a:p>
          <a:p>
            <a:r>
              <a:t>- Exact TreeSHAP feature contributions for XGBoost, verified to sum to the model margin with an absolute discrepancy under 8.1e-6.</a:t>
            </a:r>
          </a:p>
          <a:p>
            <a:r>
              <a:t>- In Comparison B, graph features ranked among the top-10 contributors in 55.3% of evaluated validation transactions.</a:t>
            </a:r>
          </a:p>
          <a:p>
            <a:r>
              <a:t>- For Temporal GraphSAGE, counterfactual edge removals demonstrated that excising the pseudo-account edge changed model logits by 3.16 on average.</a:t>
            </a:r>
          </a:p>
          <a:p>
            <a:r>
              <a:t>We explicitly communicate that feature attributions describe mathematical model sensitivity, not legal causality.</a:t>
            </a:r>
          </a:p>
          <a:p/>
          <a:p>
            <a:r>
              <a:t>Let us now look at an unexpected finding on class imbalance, and our production software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 - CLASS IMBALANCE &amp; SOFTWARE]</a:t>
            </a:r>
          </a:p>
          <a:p>
            <a:r>
              <a:t>Slide 14 presents two vital aspects of our project: an unexpected machine learning insight on class imbalance, and our production software architecture.</a:t>
            </a:r>
          </a:p>
          <a:p/>
          <a:p>
            <a:r>
              <a:t>On the left is our class imbalance study:</a:t>
            </a:r>
          </a:p>
          <a:p>
            <a:r>
              <a:t>Conventional machine learning advice dictates that when faced with 27.6:1 class imbalance, one should set scale_pos_weight = 27.36 to equalize positive and negative loss gradients.</a:t>
            </a:r>
          </a:p>
          <a:p>
            <a:r>
              <a:t>However, our pre-registered check revealed a stunning result:</a:t>
            </a:r>
          </a:p>
          <a:p>
            <a:r>
              <a:t>Unweighted XGBoost achieves a PR-AUC of 0.5948, outperforming fully weighted XGBoost (0.5395) by +0.0553 points!</a:t>
            </a:r>
          </a:p>
          <a:p>
            <a:r>
              <a:t>Why? Full class weighting forces the tree split criteria to aggressively prioritize recall, which severely inflates false-positive alerts at operating thresholds and heavily penalizes precision.</a:t>
            </a:r>
          </a:p>
          <a:p>
            <a:r>
              <a:t>In fact, this class weighting decision caused a larger performance swing (+0.0553) than any graph feature (+0.0046) or neural network architecture in our entire study.</a:t>
            </a:r>
          </a:p>
          <a:p/>
          <a:p>
            <a:r>
              <a:t>On the right is our software engineering implementation:</a:t>
            </a:r>
          </a:p>
          <a:p>
            <a:r>
              <a:t>This repository is not a collection of disconnected Jupyter notebooks; it is a tested, production-grade system:</a:t>
            </a:r>
          </a:p>
          <a:p>
            <a:r>
              <a:t>- In Phase 13, we built an interactive investigation dashboard and REST API using Python's standard library alone—no Flask, FastAPI, or external web frameworks.</a:t>
            </a:r>
          </a:p>
          <a:p>
            <a:r>
              <a:t>- We developed an end-to-end demonstration script (demo_end_to_end.py) that generates synthetic transaction streams, computes backward graph features, executes scoring, and detects planted communities on any computer without needing Kaggle credentials.</a:t>
            </a:r>
          </a:p>
          <a:p>
            <a:r>
              <a:t>- The repository contains 381 automated tests, including mutation sensitivity tests where 15 of 17 injected bugs were detected.</a:t>
            </a:r>
          </a:p>
          <a:p/>
          <a:p>
            <a:r>
              <a:t>Let us now conclude with our key takeaways and honest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 - CONCLUSIONS &amp; CLOSING]</a:t>
            </a:r>
          </a:p>
          <a:p>
            <a:r>
              <a:t>To conclude our presentation, we leave you with three memorable scientific takeaways:</a:t>
            </a:r>
          </a:p>
          <a:p/>
          <a:p>
            <a:r>
              <a:t>1. The Enduring Power of Tabular Baselines:</a:t>
            </a:r>
          </a:p>
          <a:p>
            <a:r>
              <a:t>In financial transaction fraud detection, a properly tuned gradient-boosted tree on raw transaction features remains a formidable benchmark. Many reported GNN gains in the literature vanish once strict causal boundaries and backward-looking leakage protections are enforced.</a:t>
            </a:r>
          </a:p>
          <a:p/>
          <a:p>
            <a:r>
              <a:t>2. Relational Value is Highly Specific, Not Blanket:</a:t>
            </a:r>
          </a:p>
          <a:p>
            <a:r>
              <a:t>Graph and temporal dynamics do contribute real value, but in distinct operational niches:</a:t>
            </a:r>
          </a:p>
          <a:p>
            <a:r>
              <a:t>- Continuous recurrent entity memory provides substantial lift (+0.027 PR-AUC) for cold-start transactions where historical account context is otherwise absent.</a:t>
            </a:r>
          </a:p>
          <a:p>
            <a:r>
              <a:t>- Continual walk-forward fine-tuning successfully arrests the severe model decay caused by adversarial concept drift.</a:t>
            </a:r>
          </a:p>
          <a:p/>
          <a:p>
            <a:r>
              <a:t>3. Scientific Hygiene Protects Real-World Systems:</a:t>
            </a:r>
          </a:p>
          <a:p>
            <a:r>
              <a:t>Reporting negative results—such as our failed Phase 9 benchmark gate, GAT convergence limits, and the unestablished direct lift of 40 graph features—is vital for sound engineering.</a:t>
            </a:r>
          </a:p>
          <a:p/>
          <a:p>
            <a:r>
              <a:t>Our work has clear, acknowledged boundaries: all numbers reflect the validation period, GNN batch computation remains challenging for sub-100ms streaming inference, and candidate communities require forensic external confirmation.</a:t>
            </a:r>
          </a:p>
          <a:p/>
          <a:p>
            <a:r>
              <a:t>Thank you very much for your time and attention. Both Presenter A and I are now ready to take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202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05840"/>
            <a:ext cx="1371600" cy="36576"/>
          </a:xfrm>
          <a:prstGeom prst="rect">
            <a:avLst/>
          </a:prstGeom>
          <a:solidFill>
            <a:srgbClr val="82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234440"/>
            <a:ext cx="10728655" cy="4114800"/>
          </a:xfrm>
          <a:prstGeom prst="rect">
            <a:avLst/>
          </a:prstGeom>
          <a:noFill/>
        </p:spPr>
        <p:txBody>
          <a:bodyPr wrap="square" lIns="0" tIns="0" rIns="0" bIns="0">
            <a:spAutoFit/>
          </a:bodyPr>
          <a:lstStyle/>
          <a:p>
            <a:pPr>
              <a:spcAft>
                <a:spcPts val="1400"/>
              </a:spcAft>
              <a:defRPr sz="1100" b="1">
                <a:solidFill>
                  <a:srgbClr val="829688"/>
                </a:solidFill>
                <a:latin typeface="Arial"/>
              </a:defRPr>
            </a:pPr>
            <a:r>
              <a:t>FINANCIAL SYSTEMS RESEARCH LAB • ACADEMIC EVALUATION STUDY</a:t>
            </a:r>
          </a:p>
          <a:p>
            <a:pPr>
              <a:spcAft>
                <a:spcPts val="1400"/>
              </a:spcAft>
              <a:defRPr sz="3800" b="1">
                <a:solidFill>
                  <a:srgbClr val="F7F6F2"/>
                </a:solidFill>
                <a:latin typeface="Arial"/>
              </a:defRPr>
            </a:pPr>
            <a:r>
              <a:t>Adaptive Temporal Graph Intelligence</a:t>
            </a:r>
            <a:br/>
            <a:r>
              <a:t>for Fraud Detection</a:t>
            </a:r>
          </a:p>
          <a:p>
            <a:pPr>
              <a:spcAft>
                <a:spcPts val="3600"/>
              </a:spcAft>
              <a:defRPr sz="1600">
                <a:solidFill>
                  <a:srgbClr val="BEC3BE"/>
                </a:solidFill>
                <a:latin typeface="Arial"/>
              </a:defRPr>
            </a:pPr>
            <a:r>
              <a:t>Evaluating Relational Structure, Temporal Entity Memory, and Continual Adaptation on Streaming Transactions</a:t>
            </a:r>
          </a:p>
        </p:txBody>
      </p:sp>
      <p:sp>
        <p:nvSpPr>
          <p:cNvPr id="5" name="Rounded Rectangle 4"/>
          <p:cNvSpPr/>
          <p:nvPr/>
        </p:nvSpPr>
        <p:spPr>
          <a:xfrm>
            <a:off x="731520" y="4389120"/>
            <a:ext cx="5120640" cy="1645920"/>
          </a:xfrm>
          <a:prstGeom prst="roundRect">
            <a:avLst/>
          </a:prstGeom>
          <a:solidFill>
            <a:srgbClr val="2A332D"/>
          </a:solidFill>
          <a:ln w="12700">
            <a:solidFill>
              <a:srgbClr val="3559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4526280"/>
            <a:ext cx="4663440" cy="1371600"/>
          </a:xfrm>
          <a:prstGeom prst="rect">
            <a:avLst/>
          </a:prstGeom>
          <a:noFill/>
        </p:spPr>
        <p:txBody>
          <a:bodyPr wrap="square">
            <a:spAutoFit/>
          </a:bodyPr>
          <a:lstStyle/>
          <a:p>
            <a:pPr>
              <a:defRPr b="1" sz="1200">
                <a:solidFill>
                  <a:srgbClr val="829688"/>
                </a:solidFill>
              </a:defRPr>
            </a:pPr>
            <a:r>
              <a:t>PRESENTER A  [Foundations &amp; Design]</a:t>
            </a:r>
          </a:p>
          <a:p>
            <a:pPr>
              <a:defRPr sz="1050">
                <a:solidFill>
                  <a:srgbClr val="F7F6F2"/>
                </a:solidFill>
              </a:defRPr>
            </a:pPr>
            <a:r>
              <a:t>Problem Formulation • Causal Safeguards • Architecture</a:t>
            </a:r>
            <a:br/>
            <a:r>
              <a:t>Heterogeneous Graph Construction • Temporal Memory Model</a:t>
            </a:r>
          </a:p>
        </p:txBody>
      </p:sp>
      <p:sp>
        <p:nvSpPr>
          <p:cNvPr id="7" name="Rounded Rectangle 6"/>
          <p:cNvSpPr/>
          <p:nvPr/>
        </p:nvSpPr>
        <p:spPr>
          <a:xfrm>
            <a:off x="6217920" y="4389120"/>
            <a:ext cx="5120640" cy="1645920"/>
          </a:xfrm>
          <a:prstGeom prst="roundRect">
            <a:avLst/>
          </a:prstGeom>
          <a:solidFill>
            <a:srgbClr val="2A332D"/>
          </a:solidFill>
          <a:ln w="12700">
            <a:solidFill>
              <a:srgbClr val="3559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4526280"/>
            <a:ext cx="4663440" cy="1371600"/>
          </a:xfrm>
          <a:prstGeom prst="rect">
            <a:avLst/>
          </a:prstGeom>
          <a:noFill/>
        </p:spPr>
        <p:txBody>
          <a:bodyPr wrap="square">
            <a:spAutoFit/>
          </a:bodyPr>
          <a:lstStyle/>
          <a:p>
            <a:pPr>
              <a:defRPr b="1" sz="1200">
                <a:solidFill>
                  <a:srgbClr val="829688"/>
                </a:solidFill>
              </a:defRPr>
            </a:pPr>
            <a:r>
              <a:t>PRESENTER B  [Implementation &amp; Evidence]</a:t>
            </a:r>
          </a:p>
          <a:p>
            <a:pPr>
              <a:defRPr sz="1050">
                <a:solidFill>
                  <a:srgbClr val="F7F6F2"/>
                </a:solidFill>
              </a:defRPr>
            </a:pPr>
            <a:r>
              <a:t>Evaluation Protocol • Tabular vs Graph Findings • Ablations</a:t>
            </a:r>
            <a:br/>
            <a:r>
              <a:t>Concept Drift Adaptation • Candidate Communities • Integrity</a:t>
            </a:r>
          </a:p>
        </p:txBody>
      </p:sp>
      <p:sp>
        <p:nvSpPr>
          <p:cNvPr id="9" name="TextBox 8"/>
          <p:cNvSpPr txBox="1"/>
          <p:nvPr/>
        </p:nvSpPr>
        <p:spPr>
          <a:xfrm>
            <a:off x="731520" y="6217920"/>
            <a:ext cx="10728655" cy="365760"/>
          </a:xfrm>
          <a:prstGeom prst="rect">
            <a:avLst/>
          </a:prstGeom>
          <a:noFill/>
        </p:spPr>
        <p:txBody>
          <a:bodyPr wrap="none">
            <a:spAutoFit/>
          </a:bodyPr>
          <a:lstStyle/>
          <a:p>
            <a:pPr>
              <a:defRPr sz="950">
                <a:solidFill>
                  <a:srgbClr val="829688"/>
                </a:solidFill>
              </a:defRPr>
            </a:pPr>
            <a:r>
              <a:t>Rigorous validation-period empirical study on the IEEE-CIS Fraud Detection benchmark (590,540 transactions, 182-day span).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8655" cy="1234440"/>
          </a:xfrm>
          <a:prstGeom prst="rect">
            <a:avLst/>
          </a:prstGeom>
          <a:noFill/>
        </p:spPr>
        <p:txBody>
          <a:bodyPr wrap="square" lIns="0" tIns="0" rIns="0" bIns="0">
            <a:spAutoFit/>
          </a:bodyPr>
          <a:lstStyle/>
          <a:p>
            <a:pPr>
              <a:spcAft>
                <a:spcPts val="300"/>
              </a:spcAft>
              <a:defRPr sz="1000" b="1">
                <a:solidFill>
                  <a:srgbClr val="35594D"/>
                </a:solidFill>
                <a:latin typeface="Arial"/>
              </a:defRPr>
            </a:pPr>
            <a:r>
              <a:t>PART I — FOUNDATIONS &amp; SYSTEM DESIGN  •  PRESENTER A</a:t>
            </a:r>
          </a:p>
          <a:p>
            <a:pPr>
              <a:spcAft>
                <a:spcPts val="400"/>
              </a:spcAft>
              <a:defRPr sz="2300" b="1">
                <a:solidFill>
                  <a:srgbClr val="202722"/>
                </a:solidFill>
                <a:latin typeface="Arial"/>
              </a:defRPr>
            </a:pPr>
            <a:r>
              <a:t>Transaction Fraud: Camouflage, Non-Stationarity, and Coordination</a:t>
            </a:r>
          </a:p>
          <a:p>
            <a:pPr>
              <a:defRPr sz="1250">
                <a:solidFill>
                  <a:srgbClr val="606C64"/>
                </a:solidFill>
                <a:latin typeface="Arial"/>
              </a:defRPr>
            </a:pPr>
            <a:r>
              <a:t>Why isolated transaction classification fails against sophisticated financial adversaries</a:t>
            </a:r>
          </a:p>
        </p:txBody>
      </p:sp>
      <p:sp>
        <p:nvSpPr>
          <p:cNvPr id="4" name="Rounded Rectangle 3"/>
          <p:cNvSpPr/>
          <p:nvPr/>
        </p:nvSpPr>
        <p:spPr>
          <a:xfrm>
            <a:off x="731520" y="1828800"/>
            <a:ext cx="5212080" cy="4480560"/>
          </a:xfrm>
          <a:prstGeom prst="roundRect">
            <a:avLst/>
          </a:prstGeom>
          <a:solidFill>
            <a:srgbClr val="FFFFFF"/>
          </a:solidFill>
          <a:ln w="12700">
            <a:solidFill>
              <a:srgbClr val="D9D8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011680"/>
            <a:ext cx="4754880" cy="4114800"/>
          </a:xfrm>
          <a:prstGeom prst="rect">
            <a:avLst/>
          </a:prstGeom>
          <a:noFill/>
        </p:spPr>
        <p:txBody>
          <a:bodyPr wrap="square">
            <a:spAutoFit/>
          </a:bodyPr>
          <a:lstStyle/>
          <a:p>
            <a:pPr>
              <a:spcAft>
                <a:spcPts val="1400"/>
              </a:spcAft>
              <a:defRPr b="1" sz="1400">
                <a:solidFill>
                  <a:srgbClr val="202722"/>
                </a:solidFill>
              </a:defRPr>
            </a:pPr>
            <a:r>
              <a:t>Three Core Adversarial Dilemmas</a:t>
            </a:r>
          </a:p>
          <a:p>
            <a:pPr>
              <a:defRPr b="1" sz="1200">
                <a:solidFill>
                  <a:srgbClr val="35594D"/>
                </a:solidFill>
              </a:defRPr>
            </a:pPr>
            <a:r>
              <a:t>1. Deceptive Camouflage</a:t>
            </a:r>
          </a:p>
          <a:p>
            <a:pPr>
              <a:spcAft>
                <a:spcPts val="1000"/>
              </a:spcAft>
              <a:defRPr sz="1050">
                <a:solidFill>
                  <a:srgbClr val="202722"/>
                </a:solidFill>
              </a:defRPr>
            </a:pPr>
            <a:r>
              <a:t>Individual fraudulent transactions deliberately mimic legitimate user spending in amounts, merchant categories, and purchase timing to bypass static rules.</a:t>
            </a:r>
          </a:p>
          <a:p>
            <a:pPr>
              <a:defRPr b="1" sz="1200">
                <a:solidFill>
                  <a:srgbClr val="35594D"/>
                </a:solidFill>
              </a:defRPr>
            </a:pPr>
            <a:r>
              <a:t>2. Temporal Non-Stationarity &amp; Drift</a:t>
            </a:r>
          </a:p>
          <a:p>
            <a:pPr>
              <a:spcAft>
                <a:spcPts val="1000"/>
              </a:spcAft>
              <a:defRPr sz="1050">
                <a:solidFill>
                  <a:srgbClr val="202722"/>
                </a:solidFill>
              </a:defRPr>
            </a:pPr>
            <a:r>
              <a:t>Fraud patterns evolve rapidly. Adversaries alter strategies across weeks, causing static detection models to suffer substantial decay in production.</a:t>
            </a:r>
          </a:p>
          <a:p>
            <a:pPr>
              <a:defRPr b="1" sz="1200">
                <a:solidFill>
                  <a:srgbClr val="35594D"/>
                </a:solidFill>
              </a:defRPr>
            </a:pPr>
            <a:r>
              <a:t>3. Distributed Coordination</a:t>
            </a:r>
          </a:p>
          <a:p>
            <a:pPr>
              <a:spcAft>
                <a:spcPts val="1000"/>
              </a:spcAft>
              <a:defRPr sz="1050">
                <a:solidFill>
                  <a:srgbClr val="202722"/>
                </a:solidFill>
              </a:defRPr>
            </a:pPr>
            <a:r>
              <a:t>Organized rings distribute attacks across multiple cards, devices, and network proxies to keep velocity beneath account-level alert thresholds.</a:t>
            </a:r>
          </a:p>
        </p:txBody>
      </p:sp>
      <p:sp>
        <p:nvSpPr>
          <p:cNvPr id="6" name="Rounded Rectangle 5"/>
          <p:cNvSpPr/>
          <p:nvPr/>
        </p:nvSpPr>
        <p:spPr>
          <a:xfrm>
            <a:off x="6217920" y="1828800"/>
            <a:ext cx="5212080" cy="4480560"/>
          </a:xfrm>
          <a:prstGeom prst="roundRect">
            <a:avLst/>
          </a:prstGeom>
          <a:solidFill>
            <a:srgbClr val="FFFFFF"/>
          </a:solidFill>
          <a:ln w="12700">
            <a:solidFill>
              <a:srgbClr val="D9D8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2011680"/>
            <a:ext cx="4754880" cy="4114800"/>
          </a:xfrm>
          <a:prstGeom prst="rect">
            <a:avLst/>
          </a:prstGeom>
          <a:noFill/>
        </p:spPr>
        <p:txBody>
          <a:bodyPr wrap="square">
            <a:spAutoFit/>
          </a:bodyPr>
          <a:lstStyle/>
          <a:p>
            <a:pPr>
              <a:spcAft>
                <a:spcPts val="1400"/>
              </a:spcAft>
              <a:defRPr b="1" sz="1400">
                <a:solidFill>
                  <a:srgbClr val="202722"/>
                </a:solidFill>
              </a:defRPr>
            </a:pPr>
            <a:r>
              <a:t>Benchmark Reality: The IEEE-CIS Dataset</a:t>
            </a:r>
          </a:p>
        </p:txBody>
      </p:sp>
      <p:sp>
        <p:nvSpPr>
          <p:cNvPr id="8" name="Rounded Rectangle 7"/>
          <p:cNvSpPr/>
          <p:nvPr/>
        </p:nvSpPr>
        <p:spPr>
          <a:xfrm>
            <a:off x="6446520" y="2560320"/>
            <a:ext cx="4754880" cy="914400"/>
          </a:xfrm>
          <a:prstGeom prst="roundRect">
            <a:avLst/>
          </a:prstGeom>
          <a:solidFill>
            <a:srgbClr val="F7F6F2"/>
          </a:solidFill>
          <a:ln w="12700">
            <a:solidFill>
              <a:srgbClr val="D9D8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2633472"/>
            <a:ext cx="4480560" cy="777240"/>
          </a:xfrm>
          <a:prstGeom prst="rect">
            <a:avLst/>
          </a:prstGeom>
          <a:noFill/>
        </p:spPr>
        <p:txBody>
          <a:bodyPr wrap="square">
            <a:spAutoFit/>
          </a:bodyPr>
          <a:lstStyle/>
          <a:p>
            <a:pPr>
              <a:defRPr b="1" sz="1200">
                <a:solidFill>
                  <a:srgbClr val="35594D"/>
                </a:solidFill>
              </a:defRPr>
            </a:pPr>
            <a:r>
              <a:t>590,540 Real-World Transactions</a:t>
            </a:r>
          </a:p>
          <a:p>
            <a:pPr>
              <a:defRPr sz="1000">
                <a:solidFill>
                  <a:srgbClr val="606C64"/>
                </a:solidFill>
              </a:defRPr>
            </a:pPr>
            <a:r>
              <a:t>Spanning 182 continuous calendar days of payment activity.</a:t>
            </a:r>
          </a:p>
        </p:txBody>
      </p:sp>
      <p:sp>
        <p:nvSpPr>
          <p:cNvPr id="10" name="Rounded Rectangle 9"/>
          <p:cNvSpPr/>
          <p:nvPr/>
        </p:nvSpPr>
        <p:spPr>
          <a:xfrm>
            <a:off x="6446520" y="3611880"/>
            <a:ext cx="4754880" cy="914400"/>
          </a:xfrm>
          <a:prstGeom prst="roundRect">
            <a:avLst/>
          </a:prstGeom>
          <a:solidFill>
            <a:srgbClr val="F7F6F2"/>
          </a:solidFill>
          <a:ln w="12700">
            <a:solidFill>
              <a:srgbClr val="D9D8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0" y="3685032"/>
            <a:ext cx="4480560" cy="777240"/>
          </a:xfrm>
          <a:prstGeom prst="rect">
            <a:avLst/>
          </a:prstGeom>
          <a:noFill/>
        </p:spPr>
        <p:txBody>
          <a:bodyPr wrap="square">
            <a:spAutoFit/>
          </a:bodyPr>
          <a:lstStyle/>
          <a:p>
            <a:pPr>
              <a:defRPr b="1" sz="1200">
                <a:solidFill>
                  <a:srgbClr val="B45C52"/>
                </a:solidFill>
              </a:defRPr>
            </a:pPr>
            <a:r>
              <a:t>Extreme Class Imbalance: 3.499% Positive Fraud</a:t>
            </a:r>
          </a:p>
          <a:p>
            <a:pPr>
              <a:defRPr sz="1000">
                <a:solidFill>
                  <a:srgbClr val="606C64"/>
                </a:solidFill>
              </a:defRPr>
            </a:pPr>
            <a:r>
              <a:t>27.58 benign transactions for every single fraudulent transaction.</a:t>
            </a:r>
          </a:p>
        </p:txBody>
      </p:sp>
      <p:sp>
        <p:nvSpPr>
          <p:cNvPr id="12" name="TextBox 11"/>
          <p:cNvSpPr txBox="1"/>
          <p:nvPr/>
        </p:nvSpPr>
        <p:spPr>
          <a:xfrm>
            <a:off x="6446520" y="4709160"/>
            <a:ext cx="4754880" cy="1371600"/>
          </a:xfrm>
          <a:prstGeom prst="rect">
            <a:avLst/>
          </a:prstGeom>
          <a:noFill/>
        </p:spPr>
        <p:txBody>
          <a:bodyPr wrap="square">
            <a:spAutoFit/>
          </a:bodyPr>
          <a:lstStyle/>
          <a:p>
            <a:pPr>
              <a:defRPr b="1" sz="1150">
                <a:solidFill>
                  <a:srgbClr val="35594D"/>
                </a:solidFill>
              </a:defRPr>
            </a:pPr>
            <a:r>
              <a:t>The Central Research Question:</a:t>
            </a:r>
          </a:p>
          <a:p>
            <a:pPr>
              <a:defRPr sz="1050">
                <a:solidFill>
                  <a:srgbClr val="202722"/>
                </a:solidFill>
              </a:defRPr>
            </a:pPr>
            <a:r>
              <a:t>Does the substantial engineering overhead of graph neural networks and dynamic entity memory yield defensible predictive gains over modern gradient boosting under strict chronological evaluation?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8655" cy="1234440"/>
          </a:xfrm>
          <a:prstGeom prst="rect">
            <a:avLst/>
          </a:prstGeom>
          <a:noFill/>
        </p:spPr>
        <p:txBody>
          <a:bodyPr wrap="square" lIns="0" tIns="0" rIns="0" bIns="0">
            <a:spAutoFit/>
          </a:bodyPr>
          <a:lstStyle/>
          <a:p>
            <a:pPr>
              <a:spcAft>
                <a:spcPts val="300"/>
              </a:spcAft>
              <a:defRPr sz="1000" b="1">
                <a:solidFill>
                  <a:srgbClr val="35594D"/>
                </a:solidFill>
                <a:latin typeface="Arial"/>
              </a:defRPr>
            </a:pPr>
            <a:r>
              <a:t>PART I — FOUNDATIONS &amp; SYSTEM DESIGN  •  PRESENTER A</a:t>
            </a:r>
          </a:p>
          <a:p>
            <a:pPr>
              <a:spcAft>
                <a:spcPts val="400"/>
              </a:spcAft>
              <a:defRPr sz="2300" b="1">
                <a:solidFill>
                  <a:srgbClr val="202722"/>
                </a:solidFill>
                <a:latin typeface="Arial"/>
              </a:defRPr>
            </a:pPr>
            <a:r>
              <a:t>The Graph Illusion: Target Leakage and the Labelling Artifact</a:t>
            </a:r>
          </a:p>
          <a:p>
            <a:pPr>
              <a:defRPr sz="1250">
                <a:solidFill>
                  <a:srgbClr val="606C64"/>
                </a:solidFill>
                <a:latin typeface="Arial"/>
              </a:defRPr>
            </a:pPr>
            <a:r>
              <a:t>Why financial graph models often appear extraordinarily strong on paper while failing in production</a:t>
            </a:r>
          </a:p>
        </p:txBody>
      </p:sp>
      <p:sp>
        <p:nvSpPr>
          <p:cNvPr id="4" name="Rounded Rectangle 3"/>
          <p:cNvSpPr/>
          <p:nvPr/>
        </p:nvSpPr>
        <p:spPr>
          <a:xfrm>
            <a:off x="731520" y="1828800"/>
            <a:ext cx="10728655" cy="1234440"/>
          </a:xfrm>
          <a:prstGeom prst="roundRect">
            <a:avLst/>
          </a:prstGeom>
          <a:solidFill>
            <a:srgbClr val="FDF5F4"/>
          </a:solidFill>
          <a:ln w="12700">
            <a:solidFill>
              <a:srgbClr val="B45C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938528"/>
            <a:ext cx="10241280" cy="1005840"/>
          </a:xfrm>
          <a:prstGeom prst="rect">
            <a:avLst/>
          </a:prstGeom>
          <a:noFill/>
        </p:spPr>
        <p:txBody>
          <a:bodyPr wrap="square">
            <a:spAutoFit/>
          </a:bodyPr>
          <a:lstStyle/>
          <a:p>
            <a:pPr>
              <a:defRPr b="1" sz="1150">
                <a:solidFill>
                  <a:srgbClr val="B45C52"/>
                </a:solidFill>
              </a:defRPr>
            </a:pPr>
            <a:r>
              <a:t>THE 59.86% LABELLING ARTIFACT DISCOVERED IN IEEE-CIS</a:t>
            </a:r>
          </a:p>
          <a:p>
            <a:pPr>
              <a:defRPr sz="1050">
                <a:solidFill>
                  <a:srgbClr val="202722"/>
                </a:solidFill>
              </a:defRPr>
            </a:pPr>
            <a:r>
              <a:t>In IEEE-CIS, a single backward-looking feature—whether the same pseudo-account suffered earlier fraud—separates 59.86% fraud from 0.08%. Unconstrained graph convolutions accidentally propagate this labelling convention across neighbors or look backwards from future chargebacks, creating an illusion of high predictive power.</a:t>
            </a:r>
          </a:p>
        </p:txBody>
      </p:sp>
      <p:sp>
        <p:nvSpPr>
          <p:cNvPr id="6" name="Rounded Rectangle 5"/>
          <p:cNvSpPr/>
          <p:nvPr/>
        </p:nvSpPr>
        <p:spPr>
          <a:xfrm>
            <a:off x="731520" y="3246120"/>
            <a:ext cx="3364992" cy="3063240"/>
          </a:xfrm>
          <a:prstGeom prst="roundRect">
            <a:avLst/>
          </a:prstGeom>
          <a:solidFill>
            <a:srgbClr val="FFFFFF"/>
          </a:solidFill>
          <a:ln w="12700">
            <a:solidFill>
              <a:srgbClr val="D9D8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3383280"/>
            <a:ext cx="3090672" cy="2743200"/>
          </a:xfrm>
          <a:prstGeom prst="rect">
            <a:avLst/>
          </a:prstGeom>
          <a:noFill/>
        </p:spPr>
        <p:txBody>
          <a:bodyPr wrap="square">
            <a:spAutoFit/>
          </a:bodyPr>
          <a:lstStyle/>
          <a:p>
            <a:pPr>
              <a:spcAft>
                <a:spcPts val="800"/>
              </a:spcAft>
              <a:defRPr b="1" sz="1300">
                <a:solidFill>
                  <a:srgbClr val="35594D"/>
                </a:solidFill>
              </a:defRPr>
            </a:pPr>
            <a:r>
              <a:t>1. Strict Chronological Split</a:t>
            </a:r>
          </a:p>
          <a:p>
            <a:pPr>
              <a:defRPr sz="1000">
                <a:solidFill>
                  <a:srgbClr val="202722"/>
                </a:solidFill>
              </a:defRPr>
            </a:pPr>
            <a:r>
              <a:t>• Train: Days 1–121 (417,559 rows)</a:t>
            </a:r>
            <a:br/>
            <a:r>
              <a:t>• Validation: Days 122–151 (83,655 rows)</a:t>
            </a:r>
            <a:br/>
            <a:r>
              <a:t>• Held-Out: Days 152–182 (89,326 rows, cryptographically sealed)</a:t>
            </a:r>
            <a:br/>
            <a:br/>
            <a:r>
              <a:t>Encoders, imputers, and scalers are fitted strictly on Train data only. Random k-fold splits are strictly rejected.</a:t>
            </a:r>
          </a:p>
        </p:txBody>
      </p:sp>
      <p:sp>
        <p:nvSpPr>
          <p:cNvPr id="8" name="Rounded Rectangle 7"/>
          <p:cNvSpPr/>
          <p:nvPr/>
        </p:nvSpPr>
        <p:spPr>
          <a:xfrm>
            <a:off x="4407408" y="3246120"/>
            <a:ext cx="3364992" cy="3063240"/>
          </a:xfrm>
          <a:prstGeom prst="roundRect">
            <a:avLst/>
          </a:prstGeom>
          <a:solidFill>
            <a:srgbClr val="FFFFFF"/>
          </a:solidFill>
          <a:ln w="12700">
            <a:solidFill>
              <a:srgbClr val="D9D8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44568" y="3383280"/>
            <a:ext cx="3090672" cy="2743200"/>
          </a:xfrm>
          <a:prstGeom prst="rect">
            <a:avLst/>
          </a:prstGeom>
          <a:noFill/>
        </p:spPr>
        <p:txBody>
          <a:bodyPr wrap="square">
            <a:spAutoFit/>
          </a:bodyPr>
          <a:lstStyle/>
          <a:p>
            <a:pPr>
              <a:spcAft>
                <a:spcPts val="800"/>
              </a:spcAft>
              <a:defRPr b="1" sz="1300">
                <a:solidFill>
                  <a:srgbClr val="35594D"/>
                </a:solidFill>
              </a:defRPr>
            </a:pPr>
            <a:r>
              <a:t>2. Causal Feature Masking</a:t>
            </a:r>
          </a:p>
          <a:p>
            <a:pPr>
              <a:defRPr sz="1000">
                <a:solidFill>
                  <a:srgbClr val="202722"/>
                </a:solidFill>
              </a:defRPr>
            </a:pPr>
            <a:r>
              <a:t>• Every feature for transaction t sees only strictly earlier rows (t' &lt; t).</a:t>
            </a:r>
            <a:br/>
            <a:r>
              <a:t>• Handcrafted graph features use historical entity counts with zero future leakage.</a:t>
            </a:r>
            <a:br/>
            <a:r>
              <a:t>• Neural graphs score day t using graph state masked strictly to edges with timestamp &lt;= t.</a:t>
            </a:r>
          </a:p>
        </p:txBody>
      </p:sp>
      <p:sp>
        <p:nvSpPr>
          <p:cNvPr id="10" name="Rounded Rectangle 9"/>
          <p:cNvSpPr/>
          <p:nvPr/>
        </p:nvSpPr>
        <p:spPr>
          <a:xfrm>
            <a:off x="8083296" y="3246120"/>
            <a:ext cx="3364992" cy="3063240"/>
          </a:xfrm>
          <a:prstGeom prst="roundRect">
            <a:avLst/>
          </a:prstGeom>
          <a:solidFill>
            <a:srgbClr val="FFFFFF"/>
          </a:solidFill>
          <a:ln w="12700">
            <a:solidFill>
              <a:srgbClr val="D9D8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0456" y="3383280"/>
            <a:ext cx="3090672" cy="2743200"/>
          </a:xfrm>
          <a:prstGeom prst="rect">
            <a:avLst/>
          </a:prstGeom>
          <a:noFill/>
        </p:spPr>
        <p:txBody>
          <a:bodyPr wrap="square">
            <a:spAutoFit/>
          </a:bodyPr>
          <a:lstStyle/>
          <a:p>
            <a:pPr>
              <a:spcAft>
                <a:spcPts val="800"/>
              </a:spcAft>
              <a:defRPr b="1" sz="1300">
                <a:solidFill>
                  <a:srgbClr val="35594D"/>
                </a:solidFill>
              </a:defRPr>
            </a:pPr>
            <a:r>
              <a:t>3. Interventional Checks</a:t>
            </a:r>
          </a:p>
          <a:p>
            <a:pPr>
              <a:defRPr sz="1000">
                <a:solidFill>
                  <a:srgbClr val="202722"/>
                </a:solidFill>
              </a:defRPr>
            </a:pPr>
            <a:r>
              <a:t>• Interventional code tests corrupt future days and verify that earlier predictions remain bit-identical.</a:t>
            </a:r>
            <a:br/>
            <a:r>
              <a:t>• Complete separation between research evaluation and synthetic demonstration pipelines.</a:t>
            </a:r>
            <a:br/>
            <a:r>
              <a:t>• Frozen validation gate architecture prevents post-hoc hyperparameter tuning.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8655" cy="1234440"/>
          </a:xfrm>
          <a:prstGeom prst="rect">
            <a:avLst/>
          </a:prstGeom>
          <a:noFill/>
        </p:spPr>
        <p:txBody>
          <a:bodyPr wrap="square" lIns="0" tIns="0" rIns="0" bIns="0">
            <a:spAutoFit/>
          </a:bodyPr>
          <a:lstStyle/>
          <a:p>
            <a:pPr>
              <a:spcAft>
                <a:spcPts val="300"/>
              </a:spcAft>
              <a:defRPr sz="1000" b="1">
                <a:solidFill>
                  <a:srgbClr val="35594D"/>
                </a:solidFill>
                <a:latin typeface="Arial"/>
              </a:defRPr>
            </a:pPr>
            <a:r>
              <a:t>PART I — FOUNDATIONS &amp; SYSTEM DESIGN  •  PRESENTER A</a:t>
            </a:r>
          </a:p>
          <a:p>
            <a:pPr>
              <a:spcAft>
                <a:spcPts val="400"/>
              </a:spcAft>
              <a:defRPr sz="2300" b="1">
                <a:solidFill>
                  <a:srgbClr val="202722"/>
                </a:solidFill>
                <a:latin typeface="Arial"/>
              </a:defRPr>
            </a:pPr>
            <a:r>
              <a:t>System Architecture: From Ingestion to Verified Intelligence</a:t>
            </a:r>
          </a:p>
          <a:p>
            <a:pPr>
              <a:defRPr sz="1250">
                <a:solidFill>
                  <a:srgbClr val="606C64"/>
                </a:solidFill>
                <a:latin typeface="Arial"/>
              </a:defRPr>
            </a:pPr>
            <a:r>
              <a:t>A dual-pipeline design separating tabular models, relational graphs, and temporal memory</a:t>
            </a:r>
          </a:p>
        </p:txBody>
      </p:sp>
      <p:pic>
        <p:nvPicPr>
          <p:cNvPr id="4" name="Picture 3" descr="diag_system_architecture.png"/>
          <p:cNvPicPr>
            <a:picLocks noChangeAspect="1"/>
          </p:cNvPicPr>
          <p:nvPr/>
        </p:nvPicPr>
        <p:blipFill>
          <a:blip r:embed="rId2"/>
          <a:stretch>
            <a:fillRect/>
          </a:stretch>
        </p:blipFill>
        <p:spPr>
          <a:xfrm>
            <a:off x="731520" y="1783080"/>
            <a:ext cx="10728655" cy="4748749"/>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8655" cy="1234440"/>
          </a:xfrm>
          <a:prstGeom prst="rect">
            <a:avLst/>
          </a:prstGeom>
          <a:noFill/>
        </p:spPr>
        <p:txBody>
          <a:bodyPr wrap="square" lIns="0" tIns="0" rIns="0" bIns="0">
            <a:spAutoFit/>
          </a:bodyPr>
          <a:lstStyle/>
          <a:p>
            <a:pPr>
              <a:spcAft>
                <a:spcPts val="300"/>
              </a:spcAft>
              <a:defRPr sz="1000" b="1">
                <a:solidFill>
                  <a:srgbClr val="35594D"/>
                </a:solidFill>
                <a:latin typeface="Arial"/>
              </a:defRPr>
            </a:pPr>
            <a:r>
              <a:t>PART I — FOUNDATIONS &amp; SYSTEM DESIGN  •  PRESENTER A</a:t>
            </a:r>
          </a:p>
          <a:p>
            <a:pPr>
              <a:spcAft>
                <a:spcPts val="400"/>
              </a:spcAft>
              <a:defRPr sz="2300" b="1">
                <a:solidFill>
                  <a:srgbClr val="202722"/>
                </a:solidFill>
                <a:latin typeface="Arial"/>
              </a:defRPr>
            </a:pPr>
            <a:r>
              <a:t>Grounded Graph Construction: Entities and Timed Relational Edges</a:t>
            </a:r>
          </a:p>
          <a:p>
            <a:pPr>
              <a:defRPr sz="1250">
                <a:solidFill>
                  <a:srgbClr val="606C64"/>
                </a:solidFill>
                <a:latin typeface="Arial"/>
              </a:defRPr>
            </a:pPr>
            <a:r>
              <a:t>Constructing a heterogeneous network from observed transaction fields without speculative entities</a:t>
            </a:r>
          </a:p>
        </p:txBody>
      </p:sp>
      <p:pic>
        <p:nvPicPr>
          <p:cNvPr id="4" name="Picture 3" descr="diag_graph_schema.png"/>
          <p:cNvPicPr>
            <a:picLocks noChangeAspect="1"/>
          </p:cNvPicPr>
          <p:nvPr/>
        </p:nvPicPr>
        <p:blipFill>
          <a:blip r:embed="rId2"/>
          <a:stretch>
            <a:fillRect/>
          </a:stretch>
        </p:blipFill>
        <p:spPr>
          <a:xfrm>
            <a:off x="1614830" y="1691640"/>
            <a:ext cx="8961120" cy="4562025"/>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8655" cy="1234440"/>
          </a:xfrm>
          <a:prstGeom prst="rect">
            <a:avLst/>
          </a:prstGeom>
          <a:noFill/>
        </p:spPr>
        <p:txBody>
          <a:bodyPr wrap="square" lIns="0" tIns="0" rIns="0" bIns="0">
            <a:spAutoFit/>
          </a:bodyPr>
          <a:lstStyle/>
          <a:p>
            <a:pPr>
              <a:spcAft>
                <a:spcPts val="300"/>
              </a:spcAft>
              <a:defRPr sz="1000" b="1">
                <a:solidFill>
                  <a:srgbClr val="35594D"/>
                </a:solidFill>
                <a:latin typeface="Arial"/>
              </a:defRPr>
            </a:pPr>
            <a:r>
              <a:t>PART I — FOUNDATIONS &amp; SYSTEM DESIGN  •  PRESENTER A</a:t>
            </a:r>
          </a:p>
          <a:p>
            <a:pPr>
              <a:spcAft>
                <a:spcPts val="400"/>
              </a:spcAft>
              <a:defRPr sz="2300" b="1">
                <a:solidFill>
                  <a:srgbClr val="202722"/>
                </a:solidFill>
                <a:latin typeface="Arial"/>
              </a:defRPr>
            </a:pPr>
            <a:r>
              <a:t>The Modeling Dilemma: Handcrafted Graph Features vs Deep GNNs</a:t>
            </a:r>
          </a:p>
          <a:p>
            <a:pPr>
              <a:defRPr sz="1250">
                <a:solidFill>
                  <a:srgbClr val="606C64"/>
                </a:solidFill>
                <a:latin typeface="Arial"/>
              </a:defRPr>
            </a:pPr>
            <a:r>
              <a:t>Two competing engineering paradigms for integrating relational context into tabular streams</a:t>
            </a:r>
          </a:p>
        </p:txBody>
      </p:sp>
      <p:sp>
        <p:nvSpPr>
          <p:cNvPr id="4" name="Rounded Rectangle 3"/>
          <p:cNvSpPr/>
          <p:nvPr/>
        </p:nvSpPr>
        <p:spPr>
          <a:xfrm>
            <a:off x="731520" y="1828800"/>
            <a:ext cx="5212080" cy="4480560"/>
          </a:xfrm>
          <a:prstGeom prst="roundRect">
            <a:avLst/>
          </a:prstGeom>
          <a:solidFill>
            <a:srgbClr val="FFFFFF"/>
          </a:solidFill>
          <a:ln w="12700">
            <a:solidFill>
              <a:srgbClr val="D9D8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011680"/>
            <a:ext cx="4754880" cy="4114800"/>
          </a:xfrm>
          <a:prstGeom prst="rect">
            <a:avLst/>
          </a:prstGeom>
          <a:noFill/>
        </p:spPr>
        <p:txBody>
          <a:bodyPr wrap="square">
            <a:spAutoFit/>
          </a:bodyPr>
          <a:lstStyle/>
          <a:p>
            <a:pPr>
              <a:spcAft>
                <a:spcPts val="1200"/>
              </a:spcAft>
              <a:defRPr b="1" sz="1350">
                <a:solidFill>
                  <a:srgbClr val="35594D"/>
                </a:solidFill>
              </a:defRPr>
            </a:pPr>
            <a:r>
              <a:t>Paradigm 1: Handcrafted Graph Features (B)</a:t>
            </a:r>
          </a:p>
          <a:p>
            <a:pPr>
              <a:spcAft>
                <a:spcPts val="600"/>
              </a:spcAft>
              <a:defRPr b="1" sz="1100">
                <a:solidFill>
                  <a:srgbClr val="202722"/>
                </a:solidFill>
              </a:defRPr>
            </a:pPr>
            <a:r>
              <a:t>• 40 Label-Free Backward Features: </a:t>
            </a:r>
            <a:r>
              <a:rPr b="0" sz="1000">
                <a:solidFill>
                  <a:srgbClr val="606C64"/>
                </a:solidFill>
              </a:rPr>
              <a:t>Computed per relation from strictly earlier transactions (t' &lt; t) using running entity state.</a:t>
            </a:r>
          </a:p>
          <a:p>
            <a:pPr>
              <a:spcAft>
                <a:spcPts val="600"/>
              </a:spcAft>
              <a:defRPr b="1" sz="1100">
                <a:solidFill>
                  <a:srgbClr val="202722"/>
                </a:solidFill>
              </a:defRPr>
            </a:pPr>
            <a:r>
              <a:t>• Multi-Scale Temporal Velocity: </a:t>
            </a:r>
            <a:r>
              <a:rPr b="0" sz="1000">
                <a:solidFill>
                  <a:srgbClr val="606C64"/>
                </a:solidFill>
              </a:rPr>
              <a:t>Transaction counts across prior 1-day and 7-day rolling windows for each associated entity.</a:t>
            </a:r>
          </a:p>
          <a:p>
            <a:pPr>
              <a:spcAft>
                <a:spcPts val="600"/>
              </a:spcAft>
              <a:defRPr b="1" sz="1100">
                <a:solidFill>
                  <a:srgbClr val="202722"/>
                </a:solidFill>
              </a:defRPr>
            </a:pPr>
            <a:r>
              <a:t>• Recency &amp; Monetary Behavior: </a:t>
            </a:r>
            <a:r>
              <a:rPr b="0" sz="1000">
                <a:solidFill>
                  <a:srgbClr val="606C64"/>
                </a:solidFill>
              </a:rPr>
              <a:t>Seconds elapsed since last transaction; running mean and standard deviation of log-transaction amount.</a:t>
            </a:r>
          </a:p>
          <a:p>
            <a:pPr>
              <a:spcAft>
                <a:spcPts val="600"/>
              </a:spcAft>
              <a:defRPr b="1" sz="1100">
                <a:solidFill>
                  <a:srgbClr val="202722"/>
                </a:solidFill>
              </a:defRPr>
            </a:pPr>
            <a:r>
              <a:t>• Relational Entity Diversity: </a:t>
            </a:r>
            <a:r>
              <a:rPr b="0" sz="1000">
                <a:solidFill>
                  <a:srgbClr val="606C64"/>
                </a:solidFill>
              </a:rPr>
              <a:t>Count of distinct payment cards, devices, and network proxies linked to the pseudo-account to date.</a:t>
            </a:r>
          </a:p>
          <a:p>
            <a:pPr>
              <a:spcAft>
                <a:spcPts val="600"/>
              </a:spcAft>
              <a:defRPr b="1" sz="1100">
                <a:solidFill>
                  <a:srgbClr val="202722"/>
                </a:solidFill>
              </a:defRPr>
            </a:pPr>
            <a:r>
              <a:t>• Pre-Registered Protocol: </a:t>
            </a:r>
            <a:r>
              <a:rPr b="0" sz="1000">
                <a:solidFill>
                  <a:srgbClr val="606C64"/>
                </a:solidFill>
              </a:rPr>
              <a:t>Feature formulas and acceptance rules locked in PREREGISTRATION_B.md before running any code.</a:t>
            </a:r>
          </a:p>
        </p:txBody>
      </p:sp>
      <p:sp>
        <p:nvSpPr>
          <p:cNvPr id="6" name="Rounded Rectangle 5"/>
          <p:cNvSpPr/>
          <p:nvPr/>
        </p:nvSpPr>
        <p:spPr>
          <a:xfrm>
            <a:off x="6217920" y="1828800"/>
            <a:ext cx="5212080" cy="4480560"/>
          </a:xfrm>
          <a:prstGeom prst="roundRect">
            <a:avLst/>
          </a:prstGeom>
          <a:solidFill>
            <a:srgbClr val="FFFFFF"/>
          </a:solidFill>
          <a:ln w="12700">
            <a:solidFill>
              <a:srgbClr val="D9D8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2011680"/>
            <a:ext cx="4754880" cy="4114800"/>
          </a:xfrm>
          <a:prstGeom prst="rect">
            <a:avLst/>
          </a:prstGeom>
          <a:noFill/>
        </p:spPr>
        <p:txBody>
          <a:bodyPr wrap="square">
            <a:spAutoFit/>
          </a:bodyPr>
          <a:lstStyle/>
          <a:p>
            <a:pPr>
              <a:spcAft>
                <a:spcPts val="1200"/>
              </a:spcAft>
              <a:defRPr b="1" sz="1350">
                <a:solidFill>
                  <a:srgbClr val="35594D"/>
                </a:solidFill>
              </a:defRPr>
            </a:pPr>
            <a:r>
              <a:t>Paradigm 2: Graph Neural Networks (C &amp; D)</a:t>
            </a:r>
          </a:p>
          <a:p>
            <a:pPr>
              <a:spcAft>
                <a:spcPts val="600"/>
              </a:spcAft>
              <a:defRPr b="1" sz="1100">
                <a:solidFill>
                  <a:srgbClr val="202722"/>
                </a:solidFill>
              </a:defRPr>
            </a:pPr>
            <a:r>
              <a:t>• Heterogeneous GraphSAGE (Cell C): </a:t>
            </a:r>
            <a:r>
              <a:rPr b="0" sz="1000">
                <a:solidFill>
                  <a:srgbClr val="606C64"/>
                </a:solidFill>
              </a:rPr>
              <a:t>Per-node-type linear projections with two relational SAGE aggregation layers (64 hidden units, 162k params).</a:t>
            </a:r>
          </a:p>
          <a:p>
            <a:pPr>
              <a:spcAft>
                <a:spcPts val="600"/>
              </a:spcAft>
              <a:defRPr b="1" sz="1100">
                <a:solidFill>
                  <a:srgbClr val="202722"/>
                </a:solidFill>
              </a:defRPr>
            </a:pPr>
            <a:r>
              <a:t>• Graph Attention Networks (Cell D): </a:t>
            </a:r>
            <a:r>
              <a:rPr b="0" sz="1000">
                <a:solidFill>
                  <a:srgbClr val="606C64"/>
                </a:solidFill>
              </a:rPr>
              <a:t>Multi-head attention mechanism (4 heads, 364k params) designed to dynamically weight neighbor importance.</a:t>
            </a:r>
          </a:p>
          <a:p>
            <a:pPr>
              <a:spcAft>
                <a:spcPts val="600"/>
              </a:spcAft>
              <a:defRPr b="1" sz="1100">
                <a:solidFill>
                  <a:srgbClr val="202722"/>
                </a:solidFill>
              </a:defRPr>
            </a:pPr>
            <a:r>
              <a:t>• Causal Snapshot Masking: </a:t>
            </a:r>
            <a:r>
              <a:rPr b="0" sz="1000">
                <a:solidFill>
                  <a:srgbClr val="606C64"/>
                </a:solidFill>
              </a:rPr>
              <a:t>GNNs score transactions on day t using only the graph structure formed by edges timestamped &lt;= t.</a:t>
            </a:r>
          </a:p>
          <a:p>
            <a:pPr>
              <a:spcAft>
                <a:spcPts val="600"/>
              </a:spcAft>
              <a:defRPr b="1" sz="1100">
                <a:solidFill>
                  <a:srgbClr val="202722"/>
                </a:solidFill>
              </a:defRPr>
            </a:pPr>
            <a:r>
              <a:t>• No-Relations MLP Control: </a:t>
            </a:r>
            <a:r>
              <a:rPr b="0" sz="1000">
                <a:solidFill>
                  <a:srgbClr val="606C64"/>
                </a:solidFill>
              </a:rPr>
              <a:t>An identical architecture with all relational edges removed (34k params) to isolate relational value from neural capacity.</a:t>
            </a:r>
          </a:p>
          <a:p>
            <a:pPr>
              <a:spcAft>
                <a:spcPts val="600"/>
              </a:spcAft>
              <a:defRPr b="1" sz="1100">
                <a:solidFill>
                  <a:srgbClr val="202722"/>
                </a:solidFill>
              </a:defRPr>
            </a:pPr>
            <a:r>
              <a:t>• Class-Weighted Optimization: </a:t>
            </a:r>
            <a:r>
              <a:rPr b="0" sz="1000">
                <a:solidFill>
                  <a:srgbClr val="606C64"/>
                </a:solidFill>
              </a:rPr>
              <a:t>Trained with Adam (lr=1e-3) and class-weighted binary cross-entropy (weight=27.36) with early stopping.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8655" cy="1234440"/>
          </a:xfrm>
          <a:prstGeom prst="rect">
            <a:avLst/>
          </a:prstGeom>
          <a:noFill/>
        </p:spPr>
        <p:txBody>
          <a:bodyPr wrap="square" lIns="0" tIns="0" rIns="0" bIns="0">
            <a:spAutoFit/>
          </a:bodyPr>
          <a:lstStyle/>
          <a:p>
            <a:pPr>
              <a:spcAft>
                <a:spcPts val="300"/>
              </a:spcAft>
              <a:defRPr sz="1000" b="1">
                <a:solidFill>
                  <a:srgbClr val="35594D"/>
                </a:solidFill>
                <a:latin typeface="Arial"/>
              </a:defRPr>
            </a:pPr>
            <a:r>
              <a:t>PART I — FOUNDATIONS &amp; SYSTEM DESIGN  •  PRESENTER A</a:t>
            </a:r>
          </a:p>
          <a:p>
            <a:pPr>
              <a:spcAft>
                <a:spcPts val="400"/>
              </a:spcAft>
              <a:defRPr sz="2300" b="1">
                <a:solidFill>
                  <a:srgbClr val="202722"/>
                </a:solidFill>
                <a:latin typeface="Arial"/>
              </a:defRPr>
            </a:pPr>
            <a:r>
              <a:t>Temporal GraphSAGE: Continuous Recurrent Entity State</a:t>
            </a:r>
          </a:p>
          <a:p>
            <a:pPr>
              <a:defRPr sz="1250">
                <a:solidFill>
                  <a:srgbClr val="606C64"/>
                </a:solidFill>
                <a:latin typeface="Arial"/>
              </a:defRPr>
            </a:pPr>
            <a:r>
              <a:t>Preserving dynamic behavioral memory across transactions without forward leakage</a:t>
            </a:r>
          </a:p>
        </p:txBody>
      </p:sp>
      <p:pic>
        <p:nvPicPr>
          <p:cNvPr id="4" name="Picture 3" descr="diag_temporal_memory.png"/>
          <p:cNvPicPr>
            <a:picLocks noChangeAspect="1"/>
          </p:cNvPicPr>
          <p:nvPr/>
        </p:nvPicPr>
        <p:blipFill>
          <a:blip r:embed="rId2"/>
          <a:stretch>
            <a:fillRect/>
          </a:stretch>
        </p:blipFill>
        <p:spPr>
          <a:xfrm>
            <a:off x="1645920" y="1664208"/>
            <a:ext cx="8899855" cy="3220900"/>
          </a:xfrm>
          <a:prstGeom prst="rect">
            <a:avLst/>
          </a:prstGeom>
        </p:spPr>
      </p:pic>
      <p:sp>
        <p:nvSpPr>
          <p:cNvPr id="5" name="Rounded Rectangle 4"/>
          <p:cNvSpPr/>
          <p:nvPr/>
        </p:nvSpPr>
        <p:spPr>
          <a:xfrm>
            <a:off x="731520" y="5138928"/>
            <a:ext cx="10728655" cy="1207008"/>
          </a:xfrm>
          <a:prstGeom prst="roundRect">
            <a:avLst/>
          </a:prstGeom>
          <a:solidFill>
            <a:srgbClr val="FFFFFF"/>
          </a:solidFill>
          <a:ln w="12700">
            <a:solidFill>
              <a:srgbClr val="D9D8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5230368"/>
            <a:ext cx="10241280" cy="1005840"/>
          </a:xfrm>
          <a:prstGeom prst="rect">
            <a:avLst/>
          </a:prstGeom>
          <a:noFill/>
        </p:spPr>
        <p:txBody>
          <a:bodyPr wrap="square">
            <a:spAutoFit/>
          </a:bodyPr>
          <a:lstStyle/>
          <a:p>
            <a:pPr>
              <a:defRPr b="1" sz="1100">
                <a:solidFill>
                  <a:srgbClr val="35594D"/>
                </a:solidFill>
              </a:defRPr>
            </a:pPr>
            <a:r>
              <a:t>RIGOROUS EXPERIMENTAL CONTROLS (PHASE 7A)</a:t>
            </a:r>
          </a:p>
          <a:p>
            <a:pPr>
              <a:defRPr sz="980">
                <a:solidFill>
                  <a:srgbClr val="202722"/>
                </a:solidFill>
              </a:defRPr>
            </a:pPr>
            <a:r>
              <a:t>To prove that any observed temporal gain is actually caused by the recurrent GRU mechanism rather than the training regime, we evaluated two pre-registered controls: (1) Schedule-Matched Static GNN (equal optimizer steps), and (2) Memory-Ablated Temporal GNN (replacing the recurrent GRU with a simple cumulative average).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8655" cy="1234440"/>
          </a:xfrm>
          <a:prstGeom prst="rect">
            <a:avLst/>
          </a:prstGeom>
          <a:noFill/>
        </p:spPr>
        <p:txBody>
          <a:bodyPr wrap="square" lIns="0" tIns="0" rIns="0" bIns="0">
            <a:spAutoFit/>
          </a:bodyPr>
          <a:lstStyle/>
          <a:p>
            <a:pPr>
              <a:spcAft>
                <a:spcPts val="300"/>
              </a:spcAft>
              <a:defRPr sz="1000" b="1">
                <a:solidFill>
                  <a:srgbClr val="35594D"/>
                </a:solidFill>
                <a:latin typeface="Arial"/>
              </a:defRPr>
            </a:pPr>
            <a:r>
              <a:t>PART I — FOUNDATIONS &amp; SYSTEM DESIGN  •  PRESENTER A</a:t>
            </a:r>
          </a:p>
          <a:p>
            <a:pPr>
              <a:spcAft>
                <a:spcPts val="400"/>
              </a:spcAft>
              <a:defRPr sz="2300" b="1">
                <a:solidFill>
                  <a:srgbClr val="202722"/>
                </a:solidFill>
                <a:latin typeface="Arial"/>
              </a:defRPr>
            </a:pPr>
            <a:r>
              <a:t>Pre-Registered Research Hypotheses: What We Set Out to Test</a:t>
            </a:r>
          </a:p>
          <a:p>
            <a:pPr>
              <a:defRPr sz="1250">
                <a:solidFill>
                  <a:srgbClr val="606C64"/>
                </a:solidFill>
                <a:latin typeface="Arial"/>
              </a:defRPr>
            </a:pPr>
            <a:r>
              <a:t>Establishing rigorous falsification criteria before executing experimental runs</a:t>
            </a:r>
          </a:p>
        </p:txBody>
      </p:sp>
      <p:sp>
        <p:nvSpPr>
          <p:cNvPr id="4" name="Rounded Rectangle 3"/>
          <p:cNvSpPr/>
          <p:nvPr/>
        </p:nvSpPr>
        <p:spPr>
          <a:xfrm>
            <a:off x="731520" y="1828800"/>
            <a:ext cx="6766560" cy="4480560"/>
          </a:xfrm>
          <a:prstGeom prst="roundRect">
            <a:avLst/>
          </a:prstGeom>
          <a:solidFill>
            <a:srgbClr val="FFFFFF"/>
          </a:solidFill>
          <a:ln w="12700">
            <a:solidFill>
              <a:srgbClr val="D9D8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965960"/>
            <a:ext cx="6309360" cy="4206240"/>
          </a:xfrm>
          <a:prstGeom prst="rect">
            <a:avLst/>
          </a:prstGeom>
          <a:noFill/>
        </p:spPr>
        <p:txBody>
          <a:bodyPr wrap="square">
            <a:spAutoFit/>
          </a:bodyPr>
          <a:lstStyle/>
          <a:p>
            <a:pPr>
              <a:spcAft>
                <a:spcPts val="1000"/>
              </a:spcAft>
              <a:defRPr b="1" sz="1350">
                <a:solidFill>
                  <a:srgbClr val="202722"/>
                </a:solidFill>
              </a:defRPr>
            </a:pPr>
            <a:r>
              <a:t>The Five Pre-Registered Research Hypotheses</a:t>
            </a:r>
          </a:p>
          <a:p>
            <a:pPr>
              <a:spcAft>
                <a:spcPts val="600"/>
              </a:spcAft>
              <a:defRPr b="1" sz="1100">
                <a:solidFill>
                  <a:srgbClr val="35594D"/>
                </a:solidFill>
              </a:defRPr>
            </a:pPr>
            <a:r>
              <a:t>• H1: Relational Information Gain: </a:t>
            </a:r>
            <a:r>
              <a:rPr b="0" sz="1000">
                <a:solidFill>
                  <a:srgbClr val="606C64"/>
                </a:solidFill>
              </a:rPr>
              <a:t>Graph structure provides predictive information beyond conventional transaction-level tabular features.</a:t>
            </a:r>
          </a:p>
          <a:p>
            <a:pPr>
              <a:spcAft>
                <a:spcPts val="600"/>
              </a:spcAft>
              <a:defRPr b="1" sz="1100">
                <a:solidFill>
                  <a:srgbClr val="35594D"/>
                </a:solidFill>
              </a:defRPr>
            </a:pPr>
            <a:r>
              <a:t>• H2: Representation Superiority: </a:t>
            </a:r>
            <a:r>
              <a:rPr b="0" sz="1000">
                <a:solidFill>
                  <a:srgbClr val="606C64"/>
                </a:solidFill>
              </a:rPr>
              <a:t>Learned graph neural representations (GNNs) outperform handcrafted backward-looking graph features.</a:t>
            </a:r>
          </a:p>
          <a:p>
            <a:pPr>
              <a:spcAft>
                <a:spcPts val="600"/>
              </a:spcAft>
              <a:defRPr b="1" sz="1100">
                <a:solidFill>
                  <a:srgbClr val="35594D"/>
                </a:solidFill>
              </a:defRPr>
            </a:pPr>
            <a:r>
              <a:t>• H3: Temporal Memory Generalization: </a:t>
            </a:r>
            <a:r>
              <a:rPr b="0" sz="1000">
                <a:solidFill>
                  <a:srgbClr val="606C64"/>
                </a:solidFill>
              </a:rPr>
              <a:t>Recurrent entity memory improves generalization to future transactions compared with static graph modeling.</a:t>
            </a:r>
          </a:p>
          <a:p>
            <a:pPr>
              <a:spcAft>
                <a:spcPts val="600"/>
              </a:spcAft>
              <a:defRPr b="1" sz="1100">
                <a:solidFill>
                  <a:srgbClr val="35594D"/>
                </a:solidFill>
              </a:defRPr>
            </a:pPr>
            <a:r>
              <a:t>• H4: Continual Drift Adaptation: </a:t>
            </a:r>
            <a:r>
              <a:rPr b="0" sz="1000">
                <a:solidFill>
                  <a:srgbClr val="606C64"/>
                </a:solidFill>
              </a:rPr>
              <a:t>Periodic fine-tuning on newly revealed labels significantly reduces model degradation under concept drift.</a:t>
            </a:r>
          </a:p>
          <a:p>
            <a:pPr>
              <a:spcAft>
                <a:spcPts val="600"/>
              </a:spcAft>
              <a:defRPr b="1" sz="1100">
                <a:solidFill>
                  <a:srgbClr val="35594D"/>
                </a:solidFill>
              </a:defRPr>
            </a:pPr>
            <a:r>
              <a:t>• H5: Coordinated Community Discovery: </a:t>
            </a:r>
            <a:r>
              <a:rPr b="0" sz="1000">
                <a:solidFill>
                  <a:srgbClr val="606C64"/>
                </a:solidFill>
              </a:rPr>
              <a:t>Graph-based community detection discovers coordinated multi-entity fraud structures that row-level classifiers miss.</a:t>
            </a:r>
          </a:p>
        </p:txBody>
      </p:sp>
      <p:sp>
        <p:nvSpPr>
          <p:cNvPr id="6" name="Rounded Rectangle 5"/>
          <p:cNvSpPr/>
          <p:nvPr/>
        </p:nvSpPr>
        <p:spPr>
          <a:xfrm>
            <a:off x="7772400" y="1828800"/>
            <a:ext cx="3687775" cy="4480560"/>
          </a:xfrm>
          <a:prstGeom prst="roundRect">
            <a:avLst/>
          </a:prstGeom>
          <a:solidFill>
            <a:srgbClr val="FFFFFF"/>
          </a:solidFill>
          <a:ln w="12700">
            <a:solidFill>
              <a:srgbClr val="3559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01000" y="2011680"/>
            <a:ext cx="3230575" cy="4114800"/>
          </a:xfrm>
          <a:prstGeom prst="rect">
            <a:avLst/>
          </a:prstGeom>
          <a:noFill/>
        </p:spPr>
        <p:txBody>
          <a:bodyPr wrap="square">
            <a:spAutoFit/>
          </a:bodyPr>
          <a:lstStyle/>
          <a:p>
            <a:pPr>
              <a:spcAft>
                <a:spcPts val="1200"/>
              </a:spcAft>
              <a:defRPr b="1" sz="1100">
                <a:solidFill>
                  <a:srgbClr val="35594D"/>
                </a:solidFill>
              </a:defRPr>
            </a:pPr>
            <a:r>
              <a:t>PRESENTER HANDOFF</a:t>
            </a:r>
          </a:p>
          <a:p>
            <a:pPr>
              <a:spcAft>
                <a:spcPts val="1400"/>
              </a:spcAft>
              <a:defRPr b="1" sz="1400">
                <a:solidFill>
                  <a:srgbClr val="202722"/>
                </a:solidFill>
              </a:defRPr>
            </a:pPr>
            <a:r>
              <a:t>From System Architecture to Empirical Evidence</a:t>
            </a:r>
          </a:p>
          <a:p>
            <a:pPr>
              <a:defRPr sz="1050">
                <a:solidFill>
                  <a:srgbClr val="202722"/>
                </a:solidFill>
              </a:defRPr>
            </a:pPr>
            <a:r>
              <a:t>Presenter A has established the foundational problem, causal invariants, heterogeneous graph construction, and temporal architecture.</a:t>
            </a:r>
            <a:br/>
            <a:br/>
            <a:r>
              <a:t>Presenter B will now present the experimental evaluation, our quantitative results across tabular and graph models, drift adaptation evidence, community discovery benchmarks, and final research conclusions.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8655" cy="1234440"/>
          </a:xfrm>
          <a:prstGeom prst="rect">
            <a:avLst/>
          </a:prstGeom>
          <a:noFill/>
        </p:spPr>
        <p:txBody>
          <a:bodyPr wrap="square" lIns="0" tIns="0" rIns="0" bIns="0">
            <a:spAutoFit/>
          </a:bodyPr>
          <a:lstStyle/>
          <a:p>
            <a:pPr>
              <a:spcAft>
                <a:spcPts val="300"/>
              </a:spcAft>
              <a:defRPr sz="1000" b="1">
                <a:solidFill>
                  <a:srgbClr val="35594D"/>
                </a:solidFill>
                <a:latin typeface="Arial"/>
              </a:defRPr>
            </a:pPr>
            <a:r>
              <a:t>PART II — IMPLEMENTATION &amp; EVIDENCE  •  PRESENTER B</a:t>
            </a:r>
          </a:p>
          <a:p>
            <a:pPr>
              <a:spcAft>
                <a:spcPts val="400"/>
              </a:spcAft>
              <a:defRPr sz="2300" b="1">
                <a:solidFill>
                  <a:srgbClr val="202722"/>
                </a:solidFill>
                <a:latin typeface="Arial"/>
              </a:defRPr>
            </a:pPr>
            <a:r>
              <a:t>Experimental Protocol: Metrics, Segmentation, and Integrity</a:t>
            </a:r>
          </a:p>
          <a:p>
            <a:pPr>
              <a:defRPr sz="1250">
                <a:solidFill>
                  <a:srgbClr val="606C64"/>
                </a:solidFill>
                <a:latin typeface="Arial"/>
              </a:defRPr>
            </a:pPr>
            <a:r>
              <a:t>Why conventional accuracy metrics mislead and how we enforced verification rigor</a:t>
            </a:r>
          </a:p>
        </p:txBody>
      </p:sp>
      <p:sp>
        <p:nvSpPr>
          <p:cNvPr id="4" name="Rounded Rectangle 3"/>
          <p:cNvSpPr/>
          <p:nvPr/>
        </p:nvSpPr>
        <p:spPr>
          <a:xfrm>
            <a:off x="731520" y="1828800"/>
            <a:ext cx="3364992" cy="4480560"/>
          </a:xfrm>
          <a:prstGeom prst="roundRect">
            <a:avLst/>
          </a:prstGeom>
          <a:solidFill>
            <a:srgbClr val="FFFFFF"/>
          </a:solidFill>
          <a:ln w="12700">
            <a:solidFill>
              <a:srgbClr val="D9D8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11680"/>
            <a:ext cx="2999232" cy="4114800"/>
          </a:xfrm>
          <a:prstGeom prst="rect">
            <a:avLst/>
          </a:prstGeom>
          <a:noFill/>
        </p:spPr>
        <p:txBody>
          <a:bodyPr wrap="square">
            <a:spAutoFit/>
          </a:bodyPr>
          <a:lstStyle/>
          <a:p>
            <a:pPr>
              <a:spcAft>
                <a:spcPts val="1000"/>
              </a:spcAft>
              <a:defRPr b="1" sz="1300">
                <a:solidFill>
                  <a:srgbClr val="35594D"/>
                </a:solidFill>
              </a:defRPr>
            </a:pPr>
            <a:r>
              <a:t>1. PR-AUC as Primary Metric</a:t>
            </a:r>
          </a:p>
          <a:p>
            <a:pPr>
              <a:defRPr sz="1019">
                <a:solidFill>
                  <a:srgbClr val="202722"/>
                </a:solidFill>
              </a:defRPr>
            </a:pPr>
            <a:r>
              <a:t>Under 27.6:1 class imbalance, standard accuracy and ROC-AUC are deeply misleading:</a:t>
            </a:r>
            <a:br/>
            <a:br/>
            <a:r>
              <a:t>• A naive classifier predicting 'legitimate' achieves 96.5% accuracy.</a:t>
            </a:r>
            <a:br/>
            <a:r>
              <a:t>• ROC-AUC evaluates true positive rate against false positive rate over all negatives, yielding inflated scores (&gt; 0.85) even when most alerts are false alarms.</a:t>
            </a:r>
            <a:br/>
            <a:r>
              <a:t>• PR-AUC (Precision-Recall AUC) directly measures precision across recall thresholds and serves as our primary benchmark.</a:t>
            </a:r>
          </a:p>
        </p:txBody>
      </p:sp>
      <p:sp>
        <p:nvSpPr>
          <p:cNvPr id="6" name="Rounded Rectangle 5"/>
          <p:cNvSpPr/>
          <p:nvPr/>
        </p:nvSpPr>
        <p:spPr>
          <a:xfrm>
            <a:off x="4407408" y="1828800"/>
            <a:ext cx="3364992" cy="4480560"/>
          </a:xfrm>
          <a:prstGeom prst="roundRect">
            <a:avLst/>
          </a:prstGeom>
          <a:solidFill>
            <a:srgbClr val="FFFFFF"/>
          </a:solidFill>
          <a:ln w="12700">
            <a:solidFill>
              <a:srgbClr val="D9D8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90288" y="2011680"/>
            <a:ext cx="2999232" cy="4114800"/>
          </a:xfrm>
          <a:prstGeom prst="rect">
            <a:avLst/>
          </a:prstGeom>
          <a:noFill/>
        </p:spPr>
        <p:txBody>
          <a:bodyPr wrap="square">
            <a:spAutoFit/>
          </a:bodyPr>
          <a:lstStyle/>
          <a:p>
            <a:pPr>
              <a:spcAft>
                <a:spcPts val="1000"/>
              </a:spcAft>
              <a:defRPr b="1" sz="1300">
                <a:solidFill>
                  <a:srgbClr val="35594D"/>
                </a:solidFill>
              </a:defRPr>
            </a:pPr>
            <a:r>
              <a:t>2. Strict 3-Way Segmentation</a:t>
            </a:r>
          </a:p>
          <a:p>
            <a:pPr>
              <a:defRPr sz="1019">
                <a:solidFill>
                  <a:srgbClr val="202722"/>
                </a:solidFill>
              </a:defRPr>
            </a:pPr>
            <a:r>
              <a:t>Aggregate metrics obscure where graph models succeed or fail. We report all results across 3 non-overlapping segments:</a:t>
            </a:r>
            <a:br/>
            <a:br/>
            <a:r>
              <a:t>• Warm: The pseudo-account has prior transaction history.</a:t>
            </a:r>
            <a:br/>
            <a:r>
              <a:t>• Cold-Start: Known entity, but this is its first observed transaction.</a:t>
            </a:r>
            <a:br/>
            <a:r>
              <a:t>• No-Edge: Transaction with no linked pseudo-account.</a:t>
            </a:r>
            <a:br/>
            <a:br/>
            <a:r>
              <a:t>*Critical Rule: Merging Cold and No-Edge artificially inflates cold-start metrics and is strictly prohibited in our protocol.*</a:t>
            </a:r>
          </a:p>
        </p:txBody>
      </p:sp>
      <p:sp>
        <p:nvSpPr>
          <p:cNvPr id="8" name="Rounded Rectangle 7"/>
          <p:cNvSpPr/>
          <p:nvPr/>
        </p:nvSpPr>
        <p:spPr>
          <a:xfrm>
            <a:off x="8083296" y="1828800"/>
            <a:ext cx="3364992" cy="4480560"/>
          </a:xfrm>
          <a:prstGeom prst="roundRect">
            <a:avLst/>
          </a:prstGeom>
          <a:solidFill>
            <a:srgbClr val="FFFFFF"/>
          </a:solidFill>
          <a:ln w="12700">
            <a:solidFill>
              <a:srgbClr val="D9D8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66176" y="2011680"/>
            <a:ext cx="2999232" cy="4114800"/>
          </a:xfrm>
          <a:prstGeom prst="rect">
            <a:avLst/>
          </a:prstGeom>
          <a:noFill/>
        </p:spPr>
        <p:txBody>
          <a:bodyPr wrap="square">
            <a:spAutoFit/>
          </a:bodyPr>
          <a:lstStyle/>
          <a:p>
            <a:pPr>
              <a:spcAft>
                <a:spcPts val="1000"/>
              </a:spcAft>
              <a:defRPr b="1" sz="1300">
                <a:solidFill>
                  <a:srgbClr val="35594D"/>
                </a:solidFill>
              </a:defRPr>
            </a:pPr>
            <a:r>
              <a:t>3. Verification &amp; Sealed Test</a:t>
            </a:r>
          </a:p>
          <a:p>
            <a:pPr>
              <a:defRPr sz="1019">
                <a:solidFill>
                  <a:srgbClr val="202722"/>
                </a:solidFill>
              </a:defRPr>
            </a:pPr>
            <a:r>
              <a:t>All reported results are backed by cryptographic verification:</a:t>
            </a:r>
            <a:br/>
            <a:br/>
            <a:r>
              <a:t>• Unified Metric Engine: A single shared module (src/models/metrics.py) recomputed 8,184 values across 65 files with exact 0.0 discrepancy.</a:t>
            </a:r>
            <a:br/>
            <a:r>
              <a:t>• Sealed Held-Out Period: Days 152–182 remain locked under cryptographic guards. Zero held-out numbers are reported, eliminating post-hoc cherry-picking.</a:t>
            </a:r>
            <a:br/>
            <a:r>
              <a:t>• All reported metrics reflect validation-period evaluation (Days 122–151).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8655" cy="1234440"/>
          </a:xfrm>
          <a:prstGeom prst="rect">
            <a:avLst/>
          </a:prstGeom>
          <a:noFill/>
        </p:spPr>
        <p:txBody>
          <a:bodyPr wrap="square" lIns="0" tIns="0" rIns="0" bIns="0">
            <a:spAutoFit/>
          </a:bodyPr>
          <a:lstStyle/>
          <a:p>
            <a:pPr>
              <a:spcAft>
                <a:spcPts val="300"/>
              </a:spcAft>
              <a:defRPr sz="1000" b="1">
                <a:solidFill>
                  <a:srgbClr val="35594D"/>
                </a:solidFill>
                <a:latin typeface="Arial"/>
              </a:defRPr>
            </a:pPr>
            <a:r>
              <a:t>PART II — IMPLEMENTATION &amp; EVIDENCE  •  PRESENTER B</a:t>
            </a:r>
          </a:p>
          <a:p>
            <a:pPr>
              <a:spcAft>
                <a:spcPts val="400"/>
              </a:spcAft>
              <a:defRPr sz="2300" b="1">
                <a:solidFill>
                  <a:srgbClr val="202722"/>
                </a:solidFill>
                <a:latin typeface="Arial"/>
              </a:defRPr>
            </a:pPr>
            <a:r>
              <a:t>The Tabular Baseline Prevails: Tuned XGBoost Outperforms Graph Models</a:t>
            </a:r>
          </a:p>
          <a:p>
            <a:pPr>
              <a:defRPr sz="1250">
                <a:solidFill>
                  <a:srgbClr val="606C64"/>
                </a:solidFill>
                <a:latin typeface="Arial"/>
              </a:defRPr>
            </a:pPr>
            <a:r>
              <a:t>Validation-period PR-AUC results (Days 122–151) across tabular, handcrafted, and neural architectures</a:t>
            </a:r>
          </a:p>
        </p:txBody>
      </p:sp>
      <p:pic>
        <p:nvPicPr>
          <p:cNvPr id="4" name="Picture 3" descr="fig1_pr_auc_comparison.png"/>
          <p:cNvPicPr>
            <a:picLocks noChangeAspect="1"/>
          </p:cNvPicPr>
          <p:nvPr/>
        </p:nvPicPr>
        <p:blipFill>
          <a:blip r:embed="rId2"/>
          <a:stretch>
            <a:fillRect/>
          </a:stretch>
        </p:blipFill>
        <p:spPr>
          <a:xfrm>
            <a:off x="731520" y="1783080"/>
            <a:ext cx="6583680" cy="3721210"/>
          </a:xfrm>
          <a:prstGeom prst="rect">
            <a:avLst/>
          </a:prstGeom>
        </p:spPr>
      </p:pic>
      <p:sp>
        <p:nvSpPr>
          <p:cNvPr id="5" name="Rounded Rectangle 4"/>
          <p:cNvSpPr/>
          <p:nvPr/>
        </p:nvSpPr>
        <p:spPr>
          <a:xfrm>
            <a:off x="7589520" y="1783080"/>
            <a:ext cx="3870655" cy="4526280"/>
          </a:xfrm>
          <a:prstGeom prst="roundRect">
            <a:avLst/>
          </a:prstGeom>
          <a:solidFill>
            <a:srgbClr val="FFFFFF"/>
          </a:solidFill>
          <a:ln w="12700">
            <a:solidFill>
              <a:srgbClr val="D9D8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18120" y="1965960"/>
            <a:ext cx="3413455" cy="4160520"/>
          </a:xfrm>
          <a:prstGeom prst="rect">
            <a:avLst/>
          </a:prstGeom>
          <a:noFill/>
        </p:spPr>
        <p:txBody>
          <a:bodyPr wrap="square">
            <a:spAutoFit/>
          </a:bodyPr>
          <a:lstStyle/>
          <a:p>
            <a:pPr>
              <a:spcAft>
                <a:spcPts val="1000"/>
              </a:spcAft>
              <a:defRPr b="1" sz="1300">
                <a:solidFill>
                  <a:srgbClr val="202722"/>
                </a:solidFill>
              </a:defRPr>
            </a:pPr>
            <a:r>
              <a:t>Key Findings &amp; Hypothesis Verdicts</a:t>
            </a:r>
          </a:p>
          <a:p>
            <a:pPr>
              <a:spcAft>
                <a:spcPts val="600"/>
              </a:spcAft>
              <a:defRPr b="1" sz="1050">
                <a:solidFill>
                  <a:srgbClr val="35594D"/>
                </a:solidFill>
              </a:defRPr>
            </a:pPr>
            <a:r>
              <a:t>• XGBoost Baseline Strongest: </a:t>
            </a:r>
            <a:r>
              <a:rPr b="0" sz="950">
                <a:solidFill>
                  <a:srgbClr val="202722"/>
                </a:solidFill>
              </a:rPr>
              <a:t>Tuned XGBoost on tabular features achieves 0.5395 PR-AUC (weighted) and 0.5948 (unweighted), outperforming all graph models.</a:t>
            </a:r>
          </a:p>
          <a:p>
            <a:pPr>
              <a:spcAft>
                <a:spcPts val="600"/>
              </a:spcAft>
              <a:defRPr b="1" sz="1050">
                <a:solidFill>
                  <a:srgbClr val="35594D"/>
                </a:solidFill>
              </a:defRPr>
            </a:pPr>
            <a:r>
              <a:t>• Comparison B (XGB + 40 Graph Feat.): </a:t>
            </a:r>
            <a:r>
              <a:rPr b="0" sz="950">
                <a:solidFill>
                  <a:srgbClr val="202722"/>
                </a:solidFill>
              </a:rPr>
              <a:t>Primary recipe reaches 0.5440 (+0.0046). Across 3 subsampled seeds, delta is -0.0005 vs SD 0.0034. H1-direct is NOT ESTABLISHED.</a:t>
            </a:r>
          </a:p>
          <a:p>
            <a:pPr>
              <a:spcAft>
                <a:spcPts val="600"/>
              </a:spcAft>
              <a:defRPr b="1" sz="1050">
                <a:solidFill>
                  <a:srgbClr val="B45C52"/>
                </a:solidFill>
              </a:defRPr>
            </a:pPr>
            <a:r>
              <a:t>• H2 Contradicted Under Rule: </a:t>
            </a:r>
            <a:r>
              <a:rPr b="0" sz="950">
                <a:solidFill>
                  <a:srgbClr val="202722"/>
                </a:solidFill>
              </a:rPr>
              <a:t>Handcrafted graph features (0.5611) outperform Temporal GraphSAGE (0.4927) and GraphSAGE (0.4637). Learned embeddings did not beat handcrafted features.</a:t>
            </a:r>
          </a:p>
          <a:p>
            <a:pPr>
              <a:spcAft>
                <a:spcPts val="600"/>
              </a:spcAft>
              <a:defRPr b="1" sz="1050">
                <a:solidFill>
                  <a:srgbClr val="B45C52"/>
                </a:solidFill>
              </a:defRPr>
            </a:pPr>
            <a:r>
              <a:t>• GAT Convergence Failure: </a:t>
            </a:r>
            <a:r>
              <a:rPr b="0" sz="950">
                <a:solidFill>
                  <a:srgbClr val="202722"/>
                </a:solidFill>
              </a:rPr>
              <a:t>GAT hit the 150-epoch ceiling at 0.3320 PR-AUC without converging. We report this transparently as an under-trained failure, not an inherent flaw.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8655" cy="1234440"/>
          </a:xfrm>
          <a:prstGeom prst="rect">
            <a:avLst/>
          </a:prstGeom>
          <a:noFill/>
        </p:spPr>
        <p:txBody>
          <a:bodyPr wrap="square" lIns="0" tIns="0" rIns="0" bIns="0">
            <a:spAutoFit/>
          </a:bodyPr>
          <a:lstStyle/>
          <a:p>
            <a:pPr>
              <a:spcAft>
                <a:spcPts val="300"/>
              </a:spcAft>
              <a:defRPr sz="1000" b="1">
                <a:solidFill>
                  <a:srgbClr val="35594D"/>
                </a:solidFill>
                <a:latin typeface="Arial"/>
              </a:defRPr>
            </a:pPr>
            <a:r>
              <a:t>PART II — IMPLEMENTATION &amp; EVIDENCE  •  PRESENTER B</a:t>
            </a:r>
          </a:p>
          <a:p>
            <a:pPr>
              <a:spcAft>
                <a:spcPts val="400"/>
              </a:spcAft>
              <a:defRPr sz="2300" b="1">
                <a:solidFill>
                  <a:srgbClr val="202722"/>
                </a:solidFill>
                <a:latin typeface="Arial"/>
              </a:defRPr>
            </a:pPr>
            <a:r>
              <a:t>Temporal Memory Yields Modest, Cold-Start Concentrated Gains</a:t>
            </a:r>
          </a:p>
          <a:p>
            <a:pPr>
              <a:defRPr sz="1250">
                <a:solidFill>
                  <a:srgbClr val="606C64"/>
                </a:solidFill>
                <a:latin typeface="Arial"/>
              </a:defRPr>
            </a:pPr>
            <a:r>
              <a:t>Controlled ablation studies reveal where relational dynamics and memory actually matter</a:t>
            </a:r>
          </a:p>
        </p:txBody>
      </p:sp>
      <p:sp>
        <p:nvSpPr>
          <p:cNvPr id="4" name="Rounded Rectangle 3"/>
          <p:cNvSpPr/>
          <p:nvPr/>
        </p:nvSpPr>
        <p:spPr>
          <a:xfrm>
            <a:off x="731520" y="1828800"/>
            <a:ext cx="5212080" cy="4480560"/>
          </a:xfrm>
          <a:prstGeom prst="roundRect">
            <a:avLst/>
          </a:prstGeom>
          <a:solidFill>
            <a:srgbClr val="FFFFFF"/>
          </a:solidFill>
          <a:ln w="12700">
            <a:solidFill>
              <a:srgbClr val="D9D8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011680"/>
            <a:ext cx="4754880" cy="4114800"/>
          </a:xfrm>
          <a:prstGeom prst="rect">
            <a:avLst/>
          </a:prstGeom>
          <a:noFill/>
        </p:spPr>
        <p:txBody>
          <a:bodyPr wrap="square">
            <a:spAutoFit/>
          </a:bodyPr>
          <a:lstStyle/>
          <a:p>
            <a:pPr>
              <a:spcAft>
                <a:spcPts val="1000"/>
              </a:spcAft>
              <a:defRPr b="1" sz="1350">
                <a:solidFill>
                  <a:srgbClr val="35594D"/>
                </a:solidFill>
              </a:defRPr>
            </a:pPr>
            <a:r>
              <a:t>Temporal Memory Evaluation (H3)</a:t>
            </a:r>
          </a:p>
          <a:p>
            <a:pPr>
              <a:spcAft>
                <a:spcPts val="600"/>
              </a:spcAft>
              <a:defRPr b="1" sz="1100">
                <a:solidFill>
                  <a:srgbClr val="202722"/>
                </a:solidFill>
              </a:defRPr>
            </a:pPr>
            <a:r>
              <a:t>• Beat Memory-Ablated Control in 3 of 3 Seeds: </a:t>
            </a:r>
            <a:r>
              <a:rPr b="0" sz="1000">
                <a:solidFill>
                  <a:srgbClr val="606C64"/>
                </a:solidFill>
              </a:rPr>
              <a:t>Temporal GraphSAGE (0.4927) outperforms the cumulative-mean control (0.4790) by +0.0137 pooled PR-AUC, exceeding the seed standard deviation of both arms.</a:t>
            </a:r>
          </a:p>
          <a:p>
            <a:pPr>
              <a:spcAft>
                <a:spcPts val="600"/>
              </a:spcAft>
              <a:defRPr b="1" sz="1100">
                <a:solidFill>
                  <a:srgbClr val="202722"/>
                </a:solidFill>
              </a:defRPr>
            </a:pPr>
            <a:r>
              <a:t>• Beat Schedule-Matched Static GNN in 2 of 3 Seeds: </a:t>
            </a:r>
            <a:r>
              <a:rPr b="0" sz="1000">
                <a:solidFill>
                  <a:srgbClr val="606C64"/>
                </a:solidFill>
              </a:rPr>
              <a:t>Temporal model beats static GraphSAGE (0.4792) by +0.0135 on average, confirming that the gain is not an artifact of training schedule.</a:t>
            </a:r>
          </a:p>
          <a:p>
            <a:pPr>
              <a:spcAft>
                <a:spcPts val="600"/>
              </a:spcAft>
              <a:defRPr b="1" sz="1100">
                <a:solidFill>
                  <a:srgbClr val="202722"/>
                </a:solidFill>
              </a:defRPr>
            </a:pPr>
            <a:r>
              <a:t>• Gain Heavily Concentrated in Cold-Start: </a:t>
            </a:r>
            <a:r>
              <a:rPr b="0" sz="1000">
                <a:solidFill>
                  <a:srgbClr val="606C64"/>
                </a:solidFill>
              </a:rPr>
              <a:t>On cold-start transactions (first transaction for a known entity), recurrent memory provides a notable +0.027 PR-AUC lift (0.3562 vs 0.3288).</a:t>
            </a:r>
          </a:p>
          <a:p>
            <a:pPr>
              <a:spcAft>
                <a:spcPts val="600"/>
              </a:spcAft>
              <a:defRPr b="1" sz="1100">
                <a:solidFill>
                  <a:srgbClr val="202722"/>
                </a:solidFill>
              </a:defRPr>
            </a:pPr>
            <a:r>
              <a:t>• Verdict on H3: Partially Supported: </a:t>
            </a:r>
            <a:r>
              <a:rPr b="0" sz="1000">
                <a:solidFill>
                  <a:srgbClr val="606C64"/>
                </a:solidFill>
              </a:rPr>
              <a:t>Recurrent memory demonstrates a modest, statistically detectable benefit that is concentrated on early entity interactions.</a:t>
            </a:r>
          </a:p>
        </p:txBody>
      </p:sp>
      <p:sp>
        <p:nvSpPr>
          <p:cNvPr id="6" name="Rounded Rectangle 5"/>
          <p:cNvSpPr/>
          <p:nvPr/>
        </p:nvSpPr>
        <p:spPr>
          <a:xfrm>
            <a:off x="6217920" y="1828800"/>
            <a:ext cx="5212080" cy="4480560"/>
          </a:xfrm>
          <a:prstGeom prst="roundRect">
            <a:avLst/>
          </a:prstGeom>
          <a:solidFill>
            <a:srgbClr val="FFFFFF"/>
          </a:solidFill>
          <a:ln w="12700">
            <a:solidFill>
              <a:srgbClr val="D9D8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2011680"/>
            <a:ext cx="4754880" cy="4114800"/>
          </a:xfrm>
          <a:prstGeom prst="rect">
            <a:avLst/>
          </a:prstGeom>
          <a:noFill/>
        </p:spPr>
        <p:txBody>
          <a:bodyPr wrap="square">
            <a:spAutoFit/>
          </a:bodyPr>
          <a:lstStyle/>
          <a:p>
            <a:pPr>
              <a:spcAft>
                <a:spcPts val="1000"/>
              </a:spcAft>
              <a:defRPr b="1" sz="1350">
                <a:solidFill>
                  <a:srgbClr val="35594D"/>
                </a:solidFill>
              </a:defRPr>
            </a:pPr>
            <a:r>
              <a:t>Relation Ablation Study (Temporal GraphSAGE)</a:t>
            </a:r>
          </a:p>
          <a:p>
            <a:pPr>
              <a:spcAft>
                <a:spcPts val="600"/>
              </a:spcAft>
              <a:defRPr b="1" sz="1100">
                <a:solidFill>
                  <a:srgbClr val="202722"/>
                </a:solidFill>
              </a:defRPr>
            </a:pPr>
            <a:r>
              <a:t>• Pseudo-Account ('charged_to') Is Critical: </a:t>
            </a:r>
            <a:r>
              <a:rPr b="0" sz="1000">
                <a:solidFill>
                  <a:srgbClr val="606C64"/>
                </a:solidFill>
              </a:rPr>
              <a:t>Removing the pseudo-account relation drops pooled PR-AUC by -0.0309 across all 3 seeds (0.4618 vs 0.4927). In the warm segment, PR-AUC collapses from 0.3213 to 0.2290.</a:t>
            </a:r>
          </a:p>
          <a:p>
            <a:pPr>
              <a:spcAft>
                <a:spcPts val="600"/>
              </a:spcAft>
              <a:defRPr b="1" sz="1100">
                <a:solidFill>
                  <a:srgbClr val="202722"/>
                </a:solidFill>
              </a:defRPr>
            </a:pPr>
            <a:r>
              <a:t>• Device Fingerprint ('from_device') Contributes: </a:t>
            </a:r>
            <a:r>
              <a:rPr b="0" sz="1000">
                <a:solidFill>
                  <a:srgbClr val="606C64"/>
                </a:solidFill>
              </a:rPr>
              <a:t>Removing device edges drops PR-AUC by -0.0073 in 3 of 3 seeds (0.4854 vs 0.4927), a modest contribution slightly above rerun noise.</a:t>
            </a:r>
          </a:p>
          <a:p>
            <a:pPr>
              <a:spcAft>
                <a:spcPts val="600"/>
              </a:spcAft>
              <a:defRPr b="1" sz="1100">
                <a:solidFill>
                  <a:srgbClr val="202722"/>
                </a:solidFill>
              </a:defRPr>
            </a:pPr>
            <a:r>
              <a:t>• Card ('used_card') &amp; Network ('via_network') Non-Essential: </a:t>
            </a:r>
            <a:r>
              <a:rPr b="0" sz="1000">
                <a:solidFill>
                  <a:srgbClr val="606C64"/>
                </a:solidFill>
              </a:rPr>
              <a:t>Removing used_card (-0.0038) or via_network (-0.0053) changes PR-AUC within our 0.0058 run-to-run noise floor. Removing them does not hurt performance.</a:t>
            </a:r>
          </a:p>
          <a:p>
            <a:pPr>
              <a:spcAft>
                <a:spcPts val="600"/>
              </a:spcAft>
              <a:defRPr b="1" sz="1100">
                <a:solidFill>
                  <a:srgbClr val="202722"/>
                </a:solidFill>
              </a:defRPr>
            </a:pPr>
            <a:r>
              <a:t>• Key Structural Takeaway: </a:t>
            </a:r>
            <a:r>
              <a:rPr b="0" sz="1000">
                <a:solidFill>
                  <a:srgbClr val="606C64"/>
                </a:solidFill>
              </a:rPr>
              <a:t>Nearly all relational signal exploited by the temporal model flows through the derived pseudo-account identity key.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8655" cy="1234440"/>
          </a:xfrm>
          <a:prstGeom prst="rect">
            <a:avLst/>
          </a:prstGeom>
          <a:noFill/>
        </p:spPr>
        <p:txBody>
          <a:bodyPr wrap="square" lIns="0" tIns="0" rIns="0" bIns="0">
            <a:spAutoFit/>
          </a:bodyPr>
          <a:lstStyle/>
          <a:p>
            <a:pPr>
              <a:spcAft>
                <a:spcPts val="300"/>
              </a:spcAft>
              <a:defRPr sz="1000" b="1">
                <a:solidFill>
                  <a:srgbClr val="35594D"/>
                </a:solidFill>
                <a:latin typeface="Arial"/>
              </a:defRPr>
            </a:pPr>
            <a:r>
              <a:t>PART II — IMPLEMENTATION &amp; EVIDENCE  •  PRESENTER B</a:t>
            </a:r>
          </a:p>
          <a:p>
            <a:pPr>
              <a:spcAft>
                <a:spcPts val="400"/>
              </a:spcAft>
              <a:defRPr sz="2300" b="1">
                <a:solidFill>
                  <a:srgbClr val="202722"/>
                </a:solidFill>
                <a:latin typeface="Arial"/>
              </a:defRPr>
            </a:pPr>
            <a:r>
              <a:t>Adapting Under Drift: Periodic Fine-Tuning Outperforms Static Models</a:t>
            </a:r>
          </a:p>
          <a:p>
            <a:pPr>
              <a:defRPr sz="1250">
                <a:solidFill>
                  <a:srgbClr val="606C64"/>
                </a:solidFill>
                <a:latin typeface="Arial"/>
              </a:defRPr>
            </a:pPr>
            <a:r>
              <a:t>Evaluating walk-forward adaptation across five consecutive 6-day validation windows</a:t>
            </a:r>
          </a:p>
        </p:txBody>
      </p:sp>
      <p:pic>
        <p:nvPicPr>
          <p:cNvPr id="4" name="Picture 3" descr="fig2_drift_adaptation.png"/>
          <p:cNvPicPr>
            <a:picLocks noChangeAspect="1"/>
          </p:cNvPicPr>
          <p:nvPr/>
        </p:nvPicPr>
        <p:blipFill>
          <a:blip r:embed="rId2"/>
          <a:stretch>
            <a:fillRect/>
          </a:stretch>
        </p:blipFill>
        <p:spPr>
          <a:xfrm>
            <a:off x="731520" y="1783080"/>
            <a:ext cx="6583680" cy="3721210"/>
          </a:xfrm>
          <a:prstGeom prst="rect">
            <a:avLst/>
          </a:prstGeom>
        </p:spPr>
      </p:pic>
      <p:sp>
        <p:nvSpPr>
          <p:cNvPr id="5" name="Rounded Rectangle 4"/>
          <p:cNvSpPr/>
          <p:nvPr/>
        </p:nvSpPr>
        <p:spPr>
          <a:xfrm>
            <a:off x="7589520" y="1783080"/>
            <a:ext cx="3870655" cy="4526280"/>
          </a:xfrm>
          <a:prstGeom prst="roundRect">
            <a:avLst/>
          </a:prstGeom>
          <a:solidFill>
            <a:srgbClr val="FFFFFF"/>
          </a:solidFill>
          <a:ln w="12700">
            <a:solidFill>
              <a:srgbClr val="D9D8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18120" y="1965960"/>
            <a:ext cx="3413455" cy="4160520"/>
          </a:xfrm>
          <a:prstGeom prst="rect">
            <a:avLst/>
          </a:prstGeom>
          <a:noFill/>
        </p:spPr>
        <p:txBody>
          <a:bodyPr wrap="square">
            <a:spAutoFit/>
          </a:bodyPr>
          <a:lstStyle/>
          <a:p>
            <a:pPr>
              <a:spcAft>
                <a:spcPts val="1000"/>
              </a:spcAft>
              <a:defRPr b="1" sz="1300">
                <a:solidFill>
                  <a:srgbClr val="202722"/>
                </a:solidFill>
              </a:defRPr>
            </a:pPr>
            <a:r>
              <a:t>Drift Dynamics &amp; H4 Verdict</a:t>
            </a:r>
          </a:p>
          <a:p>
            <a:pPr>
              <a:spcAft>
                <a:spcPts val="600"/>
              </a:spcAft>
              <a:defRPr b="1" sz="1050">
                <a:solidFill>
                  <a:srgbClr val="202722"/>
                </a:solidFill>
              </a:defRPr>
            </a:pPr>
            <a:r>
              <a:t>• Severe Performance Decay: </a:t>
            </a:r>
            <a:r>
              <a:rPr b="0" sz="950">
                <a:solidFill>
                  <a:srgbClr val="606C64"/>
                </a:solidFill>
              </a:rPr>
              <a:t>Frozen model PR-AUC collapses from 0.5868 in Window 1 to 0.3350 in Window 5 (a drop of &gt; 0.25) over just 30 calendar days.</a:t>
            </a:r>
          </a:p>
          <a:p>
            <a:pPr>
              <a:spcAft>
                <a:spcPts val="600"/>
              </a:spcAft>
              <a:defRPr b="1" sz="1050">
                <a:solidFill>
                  <a:srgbClr val="202722"/>
                </a:solidFill>
              </a:defRPr>
            </a:pPr>
            <a:r>
              <a:t>• Mild Covariate Shift: </a:t>
            </a:r>
            <a:r>
              <a:rPr b="0" sz="950">
                <a:solidFill>
                  <a:srgbClr val="606C64"/>
                </a:solidFill>
              </a:rPr>
              <a:t>Feature PSI across 470 features averages only ~0.01. Input distributions barely moved, yet predictive efficacy decayed sharply.</a:t>
            </a:r>
          </a:p>
          <a:p>
            <a:pPr>
              <a:spcAft>
                <a:spcPts val="600"/>
              </a:spcAft>
              <a:defRPr b="1" sz="1050">
                <a:solidFill>
                  <a:srgbClr val="35594D"/>
                </a:solidFill>
              </a:defRPr>
            </a:pPr>
            <a:r>
              <a:t>• H4 Supported Under Locked Rule: </a:t>
            </a:r>
            <a:r>
              <a:rPr b="0" sz="950">
                <a:solidFill>
                  <a:srgbClr val="606C64"/>
                </a:solidFill>
              </a:rPr>
              <a:t>Adaptive arm (0.4580) degrades significantly less than Frozen (0.4243) and beats Replay Control (0.4179) in 3 of 3 seeds (+0.0402 margin).</a:t>
            </a:r>
          </a:p>
          <a:p>
            <a:pPr>
              <a:spcAft>
                <a:spcPts val="600"/>
              </a:spcAft>
              <a:defRPr b="1" sz="1050">
                <a:solidFill>
                  <a:srgbClr val="35594D"/>
                </a:solidFill>
              </a:defRPr>
            </a:pPr>
            <a:r>
              <a:t>• Replay Control Proves Cause: </a:t>
            </a:r>
            <a:r>
              <a:rPr b="0" sz="950">
                <a:solidFill>
                  <a:srgbClr val="606C64"/>
                </a:solidFill>
              </a:rPr>
              <a:t>Replay control resampled old training data with equal compute. It scored below Frozen, proving that recent labels—not compute volume—drive the gain.</a:t>
            </a:r>
          </a:p>
          <a:p>
            <a:pPr>
              <a:spcAft>
                <a:spcPts val="600"/>
              </a:spcAft>
              <a:defRPr b="1" sz="1050">
                <a:solidFill>
                  <a:srgbClr val="202722"/>
                </a:solidFill>
              </a:defRPr>
            </a:pPr>
            <a:r>
              <a:t>• Triggered Refresh Failure: </a:t>
            </a:r>
            <a:r>
              <a:rPr b="0" sz="950">
                <a:solidFill>
                  <a:srgbClr val="606C64"/>
                </a:solidFill>
              </a:rPr>
              <a:t>A score-distribution PSI trigger never fired (PSI &lt;= 0.025 vs 0.10 threshold) while accuracy plunged. Label-free output drift failed to signal decay.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8655" cy="1234440"/>
          </a:xfrm>
          <a:prstGeom prst="rect">
            <a:avLst/>
          </a:prstGeom>
          <a:noFill/>
        </p:spPr>
        <p:txBody>
          <a:bodyPr wrap="square" lIns="0" tIns="0" rIns="0" bIns="0">
            <a:spAutoFit/>
          </a:bodyPr>
          <a:lstStyle/>
          <a:p>
            <a:pPr>
              <a:spcAft>
                <a:spcPts val="300"/>
              </a:spcAft>
              <a:defRPr sz="1000" b="1">
                <a:solidFill>
                  <a:srgbClr val="35594D"/>
                </a:solidFill>
                <a:latin typeface="Arial"/>
              </a:defRPr>
            </a:pPr>
            <a:r>
              <a:t>PART II — IMPLEMENTATION &amp; EVIDENCE  •  PRESENTER B</a:t>
            </a:r>
          </a:p>
          <a:p>
            <a:pPr>
              <a:spcAft>
                <a:spcPts val="400"/>
              </a:spcAft>
              <a:defRPr sz="2300" b="1">
                <a:solidFill>
                  <a:srgbClr val="202722"/>
                </a:solidFill>
                <a:latin typeface="Arial"/>
              </a:defRPr>
            </a:pPr>
            <a:r>
              <a:t>Coordinated Community Discovery and Transparent Explanations</a:t>
            </a:r>
          </a:p>
          <a:p>
            <a:pPr>
              <a:defRPr sz="1250">
                <a:solidFill>
                  <a:srgbClr val="606C64"/>
                </a:solidFill>
                <a:latin typeface="Arial"/>
              </a:defRPr>
            </a:pPr>
            <a:r>
              <a:t>Uncovering multi-entity structures and generating faithful model attributions</a:t>
            </a:r>
          </a:p>
        </p:txBody>
      </p:sp>
      <p:sp>
        <p:nvSpPr>
          <p:cNvPr id="4" name="Rounded Rectangle 3"/>
          <p:cNvSpPr/>
          <p:nvPr/>
        </p:nvSpPr>
        <p:spPr>
          <a:xfrm>
            <a:off x="731520" y="1828800"/>
            <a:ext cx="5212080" cy="4480560"/>
          </a:xfrm>
          <a:prstGeom prst="roundRect">
            <a:avLst/>
          </a:prstGeom>
          <a:solidFill>
            <a:srgbClr val="FFFFFF"/>
          </a:solidFill>
          <a:ln w="12700">
            <a:solidFill>
              <a:srgbClr val="D9D8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011680"/>
            <a:ext cx="4754880" cy="4114800"/>
          </a:xfrm>
          <a:prstGeom prst="rect">
            <a:avLst/>
          </a:prstGeom>
          <a:noFill/>
        </p:spPr>
        <p:txBody>
          <a:bodyPr wrap="square">
            <a:spAutoFit/>
          </a:bodyPr>
          <a:lstStyle/>
          <a:p>
            <a:pPr>
              <a:spcAft>
                <a:spcPts val="1000"/>
              </a:spcAft>
              <a:defRPr b="1" sz="1350">
                <a:solidFill>
                  <a:srgbClr val="35594D"/>
                </a:solidFill>
              </a:defRPr>
            </a:pPr>
            <a:r>
              <a:t>Candidate Community Discovery (H5)</a:t>
            </a:r>
          </a:p>
          <a:p>
            <a:pPr>
              <a:spcAft>
                <a:spcPts val="600"/>
              </a:spcAft>
              <a:defRPr b="1" sz="1100">
                <a:solidFill>
                  <a:srgbClr val="202722"/>
                </a:solidFill>
              </a:defRPr>
            </a:pPr>
            <a:r>
              <a:t>• Bipartite Louvain Modularity Clustering: </a:t>
            </a:r>
            <a:r>
              <a:rPr b="0" sz="1000">
                <a:solidFill>
                  <a:srgbClr val="606C64"/>
                </a:solidFill>
              </a:rPr>
              <a:t>Constructed dynamic bipartite graphs linking card tokens to shared infrastructure (devices, netproxies) over 7-day rolling windows.</a:t>
            </a:r>
          </a:p>
          <a:p>
            <a:pPr>
              <a:spcAft>
                <a:spcPts val="600"/>
              </a:spcAft>
              <a:defRPr b="1" sz="1100">
                <a:solidFill>
                  <a:srgbClr val="202722"/>
                </a:solidFill>
              </a:defRPr>
            </a:pPr>
            <a:r>
              <a:t>• Original Synthetic Benchmark Failed Gate G4: </a:t>
            </a:r>
            <a:r>
              <a:rPr b="0" sz="1000">
                <a:solidFill>
                  <a:srgbClr val="606C64"/>
                </a:solidFill>
              </a:rPr>
              <a:t>In Phase 9, the original synthetic benchmark failed frozen interference gate G4 on 2 of 3 seeds. Following scientific integrity rules, H5 was declared NOT ESTABLISHED.</a:t>
            </a:r>
          </a:p>
          <a:p>
            <a:pPr>
              <a:spcAft>
                <a:spcPts val="600"/>
              </a:spcAft>
              <a:defRPr b="1" sz="1100">
                <a:solidFill>
                  <a:srgbClr val="202722"/>
                </a:solidFill>
              </a:defRPr>
            </a:pPr>
            <a:r>
              <a:t>• Phase 9b Pre-Registered Benchmark Passed: </a:t>
            </a:r>
            <a:r>
              <a:rPr b="0" sz="1000">
                <a:solidFill>
                  <a:srgbClr val="606C64"/>
                </a:solidFill>
              </a:rPr>
              <a:t>A separately pre-registered benchmark with corrected interference ranking passed all gates. The structure-plus-time method recovered camouflaged planted groups (AUPRC 0.14–0.27 vs &lt;0.05 baselines).</a:t>
            </a:r>
          </a:p>
          <a:p>
            <a:pPr>
              <a:spcAft>
                <a:spcPts val="600"/>
              </a:spcAft>
              <a:defRPr b="1" sz="1100">
                <a:solidFill>
                  <a:srgbClr val="202722"/>
                </a:solidFill>
              </a:defRPr>
            </a:pPr>
            <a:r>
              <a:t>• Essential Terminology Boundary: </a:t>
            </a:r>
            <a:r>
              <a:rPr b="0" sz="1000">
                <a:solidFill>
                  <a:srgbClr val="606C64"/>
                </a:solidFill>
              </a:rPr>
              <a:t>Real-data clusters are strictly designated 'candidate coordinated communities'. Because IEEE-CIS contains zero verified fraud ring ground truth, claiming confirmed fraud rings is scientifically false.</a:t>
            </a:r>
          </a:p>
        </p:txBody>
      </p:sp>
      <p:sp>
        <p:nvSpPr>
          <p:cNvPr id="6" name="Rounded Rectangle 5"/>
          <p:cNvSpPr/>
          <p:nvPr/>
        </p:nvSpPr>
        <p:spPr>
          <a:xfrm>
            <a:off x="6217920" y="1828800"/>
            <a:ext cx="5212080" cy="4480560"/>
          </a:xfrm>
          <a:prstGeom prst="roundRect">
            <a:avLst/>
          </a:prstGeom>
          <a:solidFill>
            <a:srgbClr val="FFFFFF"/>
          </a:solidFill>
          <a:ln w="12700">
            <a:solidFill>
              <a:srgbClr val="D9D8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2011680"/>
            <a:ext cx="4754880" cy="4114800"/>
          </a:xfrm>
          <a:prstGeom prst="rect">
            <a:avLst/>
          </a:prstGeom>
          <a:noFill/>
        </p:spPr>
        <p:txBody>
          <a:bodyPr wrap="square">
            <a:spAutoFit/>
          </a:bodyPr>
          <a:lstStyle/>
          <a:p>
            <a:pPr>
              <a:spcAft>
                <a:spcPts val="1000"/>
              </a:spcAft>
              <a:defRPr b="1" sz="1350">
                <a:solidFill>
                  <a:srgbClr val="35594D"/>
                </a:solidFill>
              </a:defRPr>
            </a:pPr>
            <a:r>
              <a:t>Transparent Explanations &amp; Evidence</a:t>
            </a:r>
          </a:p>
          <a:p>
            <a:pPr>
              <a:spcAft>
                <a:spcPts val="600"/>
              </a:spcAft>
              <a:defRPr b="1" sz="1100">
                <a:solidFill>
                  <a:srgbClr val="202722"/>
                </a:solidFill>
              </a:defRPr>
            </a:pPr>
            <a:r>
              <a:t>• Exact TreeSHAP Feature Attributions: </a:t>
            </a:r>
            <a:r>
              <a:rPr b="0" sz="1000">
                <a:solidFill>
                  <a:srgbClr val="606C64"/>
                </a:solidFill>
              </a:rPr>
              <a:t>For XGBoost, native TreeSHAP feature contributions sum exactly to the model margin (verified error &lt; 8.1e-06 across 300 pre-registered validation rows).</a:t>
            </a:r>
          </a:p>
          <a:p>
            <a:pPr>
              <a:spcAft>
                <a:spcPts val="600"/>
              </a:spcAft>
              <a:defRPr b="1" sz="1100">
                <a:solidFill>
                  <a:srgbClr val="202722"/>
                </a:solidFill>
              </a:defRPr>
            </a:pPr>
            <a:r>
              <a:t>• Relational Feature Influence in Model B: </a:t>
            </a:r>
            <a:r>
              <a:rPr b="0" sz="1000">
                <a:solidFill>
                  <a:srgbClr val="606C64"/>
                </a:solidFill>
              </a:rPr>
              <a:t>In Comparison B, graph features appear in the top-10 contributions for 55.3% of transactions (40.0% of top-scoring alerts and 70.7% of uniform draws).</a:t>
            </a:r>
          </a:p>
          <a:p>
            <a:pPr>
              <a:spcAft>
                <a:spcPts val="600"/>
              </a:spcAft>
              <a:defRPr b="1" sz="1100">
                <a:solidFill>
                  <a:srgbClr val="202722"/>
                </a:solidFill>
              </a:defRPr>
            </a:pPr>
            <a:r>
              <a:t>• Counterfactual Link Removals in GNNs: </a:t>
            </a:r>
            <a:r>
              <a:rPr b="0" sz="1000">
                <a:solidFill>
                  <a:srgbClr val="606C64"/>
                </a:solidFill>
              </a:rPr>
              <a:t>For Temporal GraphSAGE, link removal perturbations confirmed pseudo-account edge removal changed output logit by 3.158 on average.</a:t>
            </a:r>
          </a:p>
          <a:p>
            <a:pPr>
              <a:spcAft>
                <a:spcPts val="600"/>
              </a:spcAft>
              <a:defRPr b="1" sz="1100">
                <a:solidFill>
                  <a:srgbClr val="202722"/>
                </a:solidFill>
              </a:defRPr>
            </a:pPr>
            <a:r>
              <a:t>• Attribution vs Causality Disclaimer: </a:t>
            </a:r>
            <a:r>
              <a:rPr b="0" sz="1000">
                <a:solidFill>
                  <a:srgbClr val="606C64"/>
                </a:solidFill>
              </a:rPr>
              <a:t>SHAP values and link sensitivities faithfully describe model margin sensitivity, but do not establish real-world real-time causal guilt.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8655" cy="1234440"/>
          </a:xfrm>
          <a:prstGeom prst="rect">
            <a:avLst/>
          </a:prstGeom>
          <a:noFill/>
        </p:spPr>
        <p:txBody>
          <a:bodyPr wrap="square" lIns="0" tIns="0" rIns="0" bIns="0">
            <a:spAutoFit/>
          </a:bodyPr>
          <a:lstStyle/>
          <a:p>
            <a:pPr>
              <a:spcAft>
                <a:spcPts val="300"/>
              </a:spcAft>
              <a:defRPr sz="1000" b="1">
                <a:solidFill>
                  <a:srgbClr val="35594D"/>
                </a:solidFill>
                <a:latin typeface="Arial"/>
              </a:defRPr>
            </a:pPr>
            <a:r>
              <a:t>PART II — IMPLEMENTATION &amp; EVIDENCE  •  PRESENTER B</a:t>
            </a:r>
          </a:p>
          <a:p>
            <a:pPr>
              <a:spcAft>
                <a:spcPts val="400"/>
              </a:spcAft>
              <a:defRPr sz="2300" b="1">
                <a:solidFill>
                  <a:srgbClr val="202722"/>
                </a:solidFill>
                <a:latin typeface="Arial"/>
              </a:defRPr>
            </a:pPr>
            <a:r>
              <a:t>The Class Weighting Penalty and Production-Grade Software</a:t>
            </a:r>
          </a:p>
          <a:p>
            <a:pPr>
              <a:defRPr sz="1250">
                <a:solidFill>
                  <a:srgbClr val="606C64"/>
                </a:solidFill>
                <a:latin typeface="Arial"/>
              </a:defRPr>
            </a:pPr>
            <a:r>
              <a:t>Surprising loss dynamics and an un-mocked standard-library serving stack</a:t>
            </a:r>
          </a:p>
        </p:txBody>
      </p:sp>
      <p:pic>
        <p:nvPicPr>
          <p:cNvPr id="4" name="Picture 3" descr="fig3_class_weighting.png"/>
          <p:cNvPicPr>
            <a:picLocks noChangeAspect="1"/>
          </p:cNvPicPr>
          <p:nvPr/>
        </p:nvPicPr>
        <p:blipFill>
          <a:blip r:embed="rId2"/>
          <a:stretch>
            <a:fillRect/>
          </a:stretch>
        </p:blipFill>
        <p:spPr>
          <a:xfrm>
            <a:off x="731520" y="1783080"/>
            <a:ext cx="5943600" cy="3566160"/>
          </a:xfrm>
          <a:prstGeom prst="rect">
            <a:avLst/>
          </a:prstGeom>
        </p:spPr>
      </p:pic>
      <p:sp>
        <p:nvSpPr>
          <p:cNvPr id="5" name="Rounded Rectangle 4"/>
          <p:cNvSpPr/>
          <p:nvPr/>
        </p:nvSpPr>
        <p:spPr>
          <a:xfrm>
            <a:off x="6949440" y="1783080"/>
            <a:ext cx="4510735" cy="4526280"/>
          </a:xfrm>
          <a:prstGeom prst="roundRect">
            <a:avLst/>
          </a:prstGeom>
          <a:solidFill>
            <a:srgbClr val="FFFFFF"/>
          </a:solidFill>
          <a:ln w="12700">
            <a:solidFill>
              <a:srgbClr val="D9D8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78040" y="1965960"/>
            <a:ext cx="4053535" cy="4160520"/>
          </a:xfrm>
          <a:prstGeom prst="rect">
            <a:avLst/>
          </a:prstGeom>
          <a:noFill/>
        </p:spPr>
        <p:txBody>
          <a:bodyPr wrap="square">
            <a:spAutoFit/>
          </a:bodyPr>
          <a:lstStyle/>
          <a:p>
            <a:pPr>
              <a:spcAft>
                <a:spcPts val="1000"/>
              </a:spcAft>
              <a:defRPr b="1" sz="1300">
                <a:solidFill>
                  <a:srgbClr val="202722"/>
                </a:solidFill>
              </a:defRPr>
            </a:pPr>
            <a:r>
              <a:t>Production Software Implementation</a:t>
            </a:r>
          </a:p>
          <a:p>
            <a:pPr>
              <a:spcAft>
                <a:spcPts val="600"/>
              </a:spcAft>
              <a:defRPr b="1" sz="1050">
                <a:solidFill>
                  <a:srgbClr val="B45C52"/>
                </a:solidFill>
              </a:defRPr>
            </a:pPr>
            <a:r>
              <a:t>• The Class Imbalance Discovery: </a:t>
            </a:r>
            <a:r>
              <a:rPr b="0" sz="950">
                <a:solidFill>
                  <a:srgbClr val="606C64"/>
                </a:solidFill>
              </a:rPr>
              <a:t>Common practice applies full class weighting (scale_pos_weight = 27.36). Unweighted XGBoost (0.5948) beats full weighting (0.5395) by +0.0553 PR-AUC! Weighting inflates false alarms at high score thresholds—a swing larger than any graph enhancement.</a:t>
            </a:r>
          </a:p>
          <a:p>
            <a:pPr>
              <a:spcAft>
                <a:spcPts val="600"/>
              </a:spcAft>
              <a:defRPr b="1" sz="1050">
                <a:solidFill>
                  <a:srgbClr val="35594D"/>
                </a:solidFill>
              </a:defRPr>
            </a:pPr>
            <a:r>
              <a:t>• Zero-Dependency Local Serving API: </a:t>
            </a:r>
            <a:r>
              <a:rPr b="0" sz="950">
                <a:solidFill>
                  <a:srgbClr val="606C64"/>
                </a:solidFill>
              </a:rPr>
              <a:t>Built entirely using Python's standard library (http.server, socketserver). Serves recorded validation tables, aggregate cards, and live scoring endpoints without Flask, FastAPI, or Node.</a:t>
            </a:r>
          </a:p>
          <a:p>
            <a:pPr>
              <a:spcAft>
                <a:spcPts val="600"/>
              </a:spcAft>
              <a:defRPr b="1" sz="1050">
                <a:solidFill>
                  <a:srgbClr val="35594D"/>
                </a:solidFill>
              </a:defRPr>
            </a:pPr>
            <a:r>
              <a:t>• Working End-to-End Synthetic Demo: </a:t>
            </a:r>
            <a:r>
              <a:rPr b="0" sz="950">
                <a:solidFill>
                  <a:srgbClr val="606C64"/>
                </a:solidFill>
              </a:rPr>
              <a:t>scripts/demo_end_to_end.py runs on any machine with zero data prerequisites. Executes causal feature extraction, XGBoost scoring, and Louvain community discovery with byte-identical output.</a:t>
            </a:r>
          </a:p>
          <a:p>
            <a:pPr>
              <a:spcAft>
                <a:spcPts val="600"/>
              </a:spcAft>
              <a:defRPr b="1" sz="1050">
                <a:solidFill>
                  <a:srgbClr val="35594D"/>
                </a:solidFill>
              </a:defRPr>
            </a:pPr>
            <a:r>
              <a:t>• 381 Automated Tests with Mutation Testing: </a:t>
            </a:r>
            <a:r>
              <a:rPr b="0" sz="950">
                <a:solidFill>
                  <a:srgbClr val="606C64"/>
                </a:solidFill>
              </a:rPr>
              <a:t>Full test suite verifying leakage invariants, serving contracts, and error responses. Mutation testing confirmed 15 of 17 test mutants detected.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7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728655" cy="1234440"/>
          </a:xfrm>
          <a:prstGeom prst="rect">
            <a:avLst/>
          </a:prstGeom>
          <a:noFill/>
        </p:spPr>
        <p:txBody>
          <a:bodyPr wrap="square" lIns="0" tIns="0" rIns="0" bIns="0">
            <a:spAutoFit/>
          </a:bodyPr>
          <a:lstStyle/>
          <a:p>
            <a:pPr>
              <a:spcAft>
                <a:spcPts val="300"/>
              </a:spcAft>
              <a:defRPr sz="1000" b="1">
                <a:solidFill>
                  <a:srgbClr val="35594D"/>
                </a:solidFill>
                <a:latin typeface="Arial"/>
              </a:defRPr>
            </a:pPr>
            <a:r>
              <a:t>PART II — IMPLEMENTATION &amp; EVIDENCE  •  PRESENTER B</a:t>
            </a:r>
          </a:p>
          <a:p>
            <a:pPr>
              <a:spcAft>
                <a:spcPts val="400"/>
              </a:spcAft>
              <a:defRPr sz="2300" b="1">
                <a:solidFill>
                  <a:srgbClr val="202722"/>
                </a:solidFill>
                <a:latin typeface="Arial"/>
              </a:defRPr>
            </a:pPr>
            <a:r>
              <a:t>Conclusions: Lessons for Financial Graph Machine Learning</a:t>
            </a:r>
          </a:p>
          <a:p>
            <a:pPr>
              <a:defRPr sz="1250">
                <a:solidFill>
                  <a:srgbClr val="606C64"/>
                </a:solidFill>
                <a:latin typeface="Arial"/>
              </a:defRPr>
            </a:pPr>
            <a:r>
              <a:t>Three core takeaways, acknowledged limitations, and future research directions</a:t>
            </a:r>
          </a:p>
        </p:txBody>
      </p:sp>
      <p:sp>
        <p:nvSpPr>
          <p:cNvPr id="4" name="Rounded Rectangle 3"/>
          <p:cNvSpPr/>
          <p:nvPr/>
        </p:nvSpPr>
        <p:spPr>
          <a:xfrm>
            <a:off x="731520" y="1828800"/>
            <a:ext cx="5212080" cy="4480560"/>
          </a:xfrm>
          <a:prstGeom prst="roundRect">
            <a:avLst/>
          </a:prstGeom>
          <a:solidFill>
            <a:srgbClr val="FFFFFF"/>
          </a:solidFill>
          <a:ln w="12700">
            <a:solidFill>
              <a:srgbClr val="D9D8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011680"/>
            <a:ext cx="4754880" cy="4114800"/>
          </a:xfrm>
          <a:prstGeom prst="rect">
            <a:avLst/>
          </a:prstGeom>
          <a:noFill/>
        </p:spPr>
        <p:txBody>
          <a:bodyPr wrap="square">
            <a:spAutoFit/>
          </a:bodyPr>
          <a:lstStyle/>
          <a:p>
            <a:pPr>
              <a:spcAft>
                <a:spcPts val="1200"/>
              </a:spcAft>
              <a:defRPr b="1" sz="1350">
                <a:solidFill>
                  <a:srgbClr val="35594D"/>
                </a:solidFill>
              </a:defRPr>
            </a:pPr>
            <a:r>
              <a:t>Three Core Scientific Takeaways</a:t>
            </a:r>
          </a:p>
          <a:p>
            <a:pPr>
              <a:defRPr b="1" sz="1150">
                <a:solidFill>
                  <a:srgbClr val="202722"/>
                </a:solidFill>
              </a:defRPr>
            </a:pPr>
            <a:r>
              <a:t>1. The Enduring Power of Tabular Baselines</a:t>
            </a:r>
          </a:p>
          <a:p>
            <a:pPr>
              <a:spcAft>
                <a:spcPts val="1000"/>
              </a:spcAft>
              <a:defRPr sz="1000">
                <a:solidFill>
                  <a:srgbClr val="606C64"/>
                </a:solidFill>
              </a:defRPr>
            </a:pPr>
            <a:r>
              <a:t>A tuned gradient-boosted tree on transaction features remains exceptionally difficult to beat. Relational graph intelligence must be evaluated against strong tabular baselines under rigorous causal controls.</a:t>
            </a:r>
          </a:p>
          <a:p>
            <a:pPr>
              <a:defRPr b="1" sz="1150">
                <a:solidFill>
                  <a:srgbClr val="202722"/>
                </a:solidFill>
              </a:defRPr>
            </a:pPr>
            <a:r>
              <a:t>2. Specificity of Relational &amp; Temporal Value</a:t>
            </a:r>
          </a:p>
          <a:p>
            <a:pPr>
              <a:spcAft>
                <a:spcPts val="1000"/>
              </a:spcAft>
              <a:defRPr sz="1000">
                <a:solidFill>
                  <a:srgbClr val="606C64"/>
                </a:solidFill>
              </a:defRPr>
            </a:pPr>
            <a:r>
              <a:t>Graph and temporal dynamics provide genuine value, but in targeted niches: recurrent memory delivers meaningful lift (+0.027 PR-AUC) in cold-start scenarios, and periodic adaptation successfully counters drift.</a:t>
            </a:r>
          </a:p>
          <a:p>
            <a:pPr>
              <a:defRPr b="1" sz="1150">
                <a:solidFill>
                  <a:srgbClr val="202722"/>
                </a:solidFill>
              </a:defRPr>
            </a:pPr>
            <a:r>
              <a:t>3. Scientific Hygiene Over Sensation</a:t>
            </a:r>
          </a:p>
          <a:p>
            <a:pPr>
              <a:spcAft>
                <a:spcPts val="1000"/>
              </a:spcAft>
              <a:defRPr sz="1000">
                <a:solidFill>
                  <a:srgbClr val="606C64"/>
                </a:solidFill>
              </a:defRPr>
            </a:pPr>
            <a:r>
              <a:t>Negative findings, failed benchmark gates, and sealed held-out periods are essential research contributions that prevent the reproducibility crises prevalent in applied financial ML.</a:t>
            </a:r>
          </a:p>
        </p:txBody>
      </p:sp>
      <p:sp>
        <p:nvSpPr>
          <p:cNvPr id="6" name="Rounded Rectangle 5"/>
          <p:cNvSpPr/>
          <p:nvPr/>
        </p:nvSpPr>
        <p:spPr>
          <a:xfrm>
            <a:off x="6217920" y="1828800"/>
            <a:ext cx="5212080" cy="4480560"/>
          </a:xfrm>
          <a:prstGeom prst="roundRect">
            <a:avLst/>
          </a:prstGeom>
          <a:solidFill>
            <a:srgbClr val="FFFFFF"/>
          </a:solidFill>
          <a:ln w="12700">
            <a:solidFill>
              <a:srgbClr val="D9D8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2011680"/>
            <a:ext cx="4754880" cy="4114800"/>
          </a:xfrm>
          <a:prstGeom prst="rect">
            <a:avLst/>
          </a:prstGeom>
          <a:noFill/>
        </p:spPr>
        <p:txBody>
          <a:bodyPr wrap="square">
            <a:spAutoFit/>
          </a:bodyPr>
          <a:lstStyle/>
          <a:p>
            <a:pPr>
              <a:spcAft>
                <a:spcPts val="1200"/>
              </a:spcAft>
              <a:defRPr b="1" sz="1350">
                <a:solidFill>
                  <a:srgbClr val="202722"/>
                </a:solidFill>
              </a:defRPr>
            </a:pPr>
            <a:r>
              <a:t>Honest Limitations &amp; Next Steps</a:t>
            </a:r>
          </a:p>
          <a:p>
            <a:pPr>
              <a:spcAft>
                <a:spcPts val="800"/>
              </a:spcAft>
              <a:defRPr b="1" sz="1050">
                <a:solidFill>
                  <a:srgbClr val="202722"/>
                </a:solidFill>
              </a:defRPr>
            </a:pPr>
            <a:r>
              <a:t>• Validation-Period Scope: </a:t>
            </a:r>
            <a:r>
              <a:rPr b="0" sz="1000">
                <a:solidFill>
                  <a:srgbClr val="606C64"/>
                </a:solidFill>
              </a:rPr>
              <a:t>All empirical claims reflect the validation period (Days 122–151). The held-out period (Days 152–182) remains cryptographically sealed awaiting authorization.</a:t>
            </a:r>
          </a:p>
          <a:p>
            <a:pPr>
              <a:spcAft>
                <a:spcPts val="800"/>
              </a:spcAft>
              <a:defRPr b="1" sz="1050">
                <a:solidFill>
                  <a:srgbClr val="202722"/>
                </a:solidFill>
              </a:defRPr>
            </a:pPr>
            <a:r>
              <a:t>• GNN Batch Latency vs Streaming Serving: </a:t>
            </a:r>
            <a:r>
              <a:rPr b="0" sz="1000">
                <a:solidFill>
                  <a:srgbClr val="606C64"/>
                </a:solidFill>
              </a:rPr>
              <a:t>Full-batch GNNs require substantial GPU memory and whole-day graph state, making them impractical for single-row sub-100ms real-time payment authorization.</a:t>
            </a:r>
          </a:p>
          <a:p>
            <a:pPr>
              <a:spcAft>
                <a:spcPts val="800"/>
              </a:spcAft>
              <a:defRPr b="1" sz="1050">
                <a:solidFill>
                  <a:srgbClr val="202722"/>
                </a:solidFill>
              </a:defRPr>
            </a:pPr>
            <a:r>
              <a:t>• Candidate Communities vs Fraud Rings: </a:t>
            </a:r>
            <a:r>
              <a:rPr b="0" sz="1000">
                <a:solidFill>
                  <a:srgbClr val="606C64"/>
                </a:solidFill>
              </a:rPr>
              <a:t>Unsupervised graph clusters reflect behavioral similarity; formal operational fraud-ring confirmation requires forensic ground truth unavailable in public data.</a:t>
            </a:r>
          </a:p>
          <a:p>
            <a:pPr>
              <a:spcAft>
                <a:spcPts val="800"/>
              </a:spcAft>
              <a:defRPr b="1" sz="1050">
                <a:solidFill>
                  <a:srgbClr val="35594D"/>
                </a:solidFill>
              </a:defRPr>
            </a:pPr>
            <a:r>
              <a:t>• Future Work: Streaming Graph Stores: </a:t>
            </a:r>
            <a:r>
              <a:rPr b="0" sz="1000">
                <a:solidFill>
                  <a:srgbClr val="606C64"/>
                </a:solidFill>
              </a:rPr>
              <a:t>Developing incremental dynamic graph representations that maintain cold-start entity memory within millisecond production latencies.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